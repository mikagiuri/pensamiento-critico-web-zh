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批判性思维 · 第15课 · 第3单元 · 谬误 I：攻击、转移、煽动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稻草人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稻草人是歪曲别人的想法，去攻击一个更容易推翻的版本。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在你的练习单上写出缺少的词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拉丁语里，ad hominem 的意思是“针对______”。  （第14课）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一个人自己做不到某个建议，并不会让这个建议变______。  （第14课）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如果我是靠______猜对的，那我并不算知道。  （第3课）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用另一种颜色订正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拉丁语里，ad hominem 的意思是“针对</a:t>
            </a:r>
            <a:r>
              <a:rPr sz="2600" b="1">
                <a:solidFill>
                  <a:srgbClr val="1F2A44"/>
                </a:solidFill>
                <a:latin typeface="Nunito Sans"/>
              </a:rPr>
              <a:t>人</a:t>
            </a:r>
            <a:r>
              <a:rPr sz="2600" b="0">
                <a:solidFill>
                  <a:srgbClr val="1F2A44"/>
                </a:solidFill>
                <a:latin typeface="Nunito Sans"/>
              </a:rPr>
              <a:t>”。  （第14课）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一个人自己做不到某个建议，并不会让这个建议变</a:t>
            </a:r>
            <a:r>
              <a:rPr sz="2600" b="1">
                <a:solidFill>
                  <a:srgbClr val="1F2A44"/>
                </a:solidFill>
                <a:latin typeface="Nunito Sans"/>
              </a:rPr>
              <a:t>假</a:t>
            </a:r>
            <a:r>
              <a:rPr sz="2600" b="0">
                <a:solidFill>
                  <a:srgbClr val="1F2A44"/>
                </a:solidFill>
                <a:latin typeface="Nunito Sans"/>
              </a:rPr>
              <a:t>。  （第14课）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如果我是靠</a:t>
            </a:r>
            <a:r>
              <a:rPr sz="2600" b="1">
                <a:solidFill>
                  <a:srgbClr val="1F2A44"/>
                </a:solidFill>
                <a:latin typeface="Nunito Sans"/>
              </a:rPr>
              <a:t>运气</a:t>
            </a:r>
            <a:r>
              <a:rPr sz="2600" b="0">
                <a:solidFill>
                  <a:srgbClr val="1F2A44"/>
                </a:solidFill>
                <a:latin typeface="Nunito Sans"/>
              </a:rPr>
              <a:t>猜对的，那我并不算知道。  （第3课）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一个女孩：“午饭的时候，我们可以把手机放在书包里。”一个男孩：“当然啦，你就是想禁止手机，让我们回到中世纪。”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这个女孩说过这种话吗？这个男孩在和什么想法作对？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第1部分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什么是稻草人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什么是稻草人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稻草人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歪曲别人的想法，把它夸大或者改变，然后去攻击这个假的版本，而不是真正的想法。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稻草人看起来像一个人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但一推就倒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要问：</a:t>
            </a:r>
            <a:r>
              <a:rPr sz="2800" b="1">
                <a:solidFill>
                  <a:srgbClr val="1F2A44"/>
                </a:solidFill>
                <a:latin typeface="Nunito Sans"/>
              </a:rPr>
              <a:t>我说的真的就是这个意思吗？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什么是稻草人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制造稻草人的三种方式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夸大：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“少吃点糖”变成了“禁止吃甜食”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删减：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去掉让这个想法合理的那一部分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捏造：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把他没说过的话硬放进他嘴里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什么是稻草人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他说的话和被攻击的话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6000"/>
                <a:gridCol w="5456000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他说的话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稻草人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“我们可以把操场上的音乐调小一点”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“她想让课间变成图书馆”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“我累了，今天不出去”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“你已经不在乎朋友们了”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“这个游戏广告太多了”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“你讨厌电子游戏”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第2部分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已解决的案例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 1 · 午饭时的手机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一个女孩：“午饭的时候，我们可以把手机放在书包里。”一个男孩：“当然啦，你就是想禁止手机，让我们回到中世纪。”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这个女孩说了什么？午饭时把手机放在书包里。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这个男孩攻击什么？“禁止手机”和“中世纪”。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这是一回事吗？不是：这是被夸大的版本，更容易被拒绝。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结论：稻草人。这个女孩真正的想法依然没有得到回应。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 2 · 油管上的一条评论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一个男孩在一个视频下评论：“广告太多了。”另一个用户回复：“也就是说，创作者应该免费工作。说得真轻巧。”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这个男孩说了什么？说广告太多了。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他们攻击的是什么？创作者免费工作。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这个男孩说过这话吗？没有：广告少一点，不等于一分钱都不赚。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结论：夸大造成的稻草人。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 3 · 好好概括不是稻草人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一个女孩：“星期五的作业应该短一点。”一个男孩：“你是提议周末少布置作业。我不同意：星期一有考试。”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这个男孩概括得好吗？好：“短一点”就是“少一点作业”。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他回应的是真正的想法吗？是的，而且给了理由：星期一的考试。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他们意见不一样，这没有问题。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结论：这不是稻草人。不同意真正的想法是正当的。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第3部分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歪曲还是概括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第3部分 · 歪曲还是概括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稻草人，还是公正的概括？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稻草人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夸大或改变这个想法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攻击没有说过的东西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想轻松取胜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公正的概括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照对方说的原样重复这个想法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对方会说：“对，我就是这个意思”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回应的是真正的想法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第3部分 · 歪曲还是概括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听起来夸张 = 稻草人？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一个男孩：“作业一点用也没有：应该全部取消。”一个女孩：“这个男孩想取消所有作业，我不同意。”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听起来非常夸张。它是稻草人吗？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听起来很极端，就像我们看过的那些稻草人。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但是这个男孩说过吗？说过：“应该全部取消”。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这个男孩会说：“对，我就是这个意思。”这是对一个本来就很极端的想法的</a:t>
            </a:r>
            <a:r>
              <a:rPr sz="2400" b="1">
                <a:solidFill>
                  <a:srgbClr val="1F2A44"/>
                </a:solidFill>
                <a:latin typeface="Nunito Sans"/>
              </a:rPr>
              <a:t>公正概括</a:t>
            </a:r>
            <a:r>
              <a:rPr sz="2400" b="0">
                <a:solidFill>
                  <a:srgbClr val="1F2A44"/>
                </a:solidFill>
                <a:latin typeface="Nunito Sans"/>
              </a:rPr>
              <a:t>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结论：要和他真正说的话比较，而不是和听起来多夸张比较。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先自己写，不看笔记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两分钟。然后我们一起对照。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稻草人歪曲别人的想法，让它更容易被攻击。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它是通过夸大、删减或捏造对方说的话做出来的。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要拆穿它，就问：我说的真的就是这个意思吗？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分钟 · 独立完成 · 保持安静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台阶1 · 人人都做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台阶2 · 复习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台阶3 · 挑战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第一遍：不看笔记，用圆珠笔写。第二遍：看笔记，换一种颜色。每个答案都标出“确定”或“不确定”。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