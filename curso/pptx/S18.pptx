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notesMaster" Target="notesMasters/notesMaster1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0652000" y="380000"/>
            <a:ext cx="900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980"/>
              </a:spcAft>
            </a:pPr>
            <a:r>
              <a:rPr sz="4400" b="0">
                <a:solidFill>
                  <a:srgbClr val="1F2A44"/>
                </a:solidFill>
                <a:latin typeface="Nunito Sans"/>
              </a:rPr>
              <a:t>🙃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05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585"/>
              </a:spcAft>
            </a:pPr>
            <a:r>
              <a:rPr sz="1300" b="1">
                <a:solidFill>
                  <a:srgbClr val="E8793A"/>
                </a:solidFill>
                <a:latin typeface="Nunito Sans"/>
              </a:rPr>
              <a:t>批判性思维 · 第18课 · 第3单元 · 谬误 I：攻击、转移、煽动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55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250"/>
              </a:spcAft>
            </a:pPr>
            <a:r>
              <a:rPr sz="5000" b="1">
                <a:solidFill>
                  <a:srgbClr val="1F2A44"/>
                </a:solidFill>
                <a:latin typeface="Fredoka"/>
              </a:rPr>
              <a:t>第三单元的复习和考试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0">
                <a:solidFill>
                  <a:srgbClr val="4A5568"/>
                </a:solidFill>
                <a:latin typeface="Nunito Sans"/>
              </a:rPr>
              <a:t>我们来复习什么是谬误，以及攻击个人、歪曲想法、转移话题或利用情绪的那些谬误。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在你的练习单上写出缺少的词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红鲱鱼就是为了不回答而转移______。  （第17课）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拆穿它的问题：这和我们刚才谈的有什么______？  （第17课）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谬误是一种______好论证、实际上并不好的论证。  （第13课）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ANTES DE EMPEZAR · SIN MIRAR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40"/>
              </a:spcAft>
            </a:pPr>
            <a:r>
              <a:rPr sz="3200" b="1">
                <a:solidFill>
                  <a:srgbClr val="1F2A44"/>
                </a:solidFill>
                <a:latin typeface="Fredoka"/>
              </a:rPr>
              <a:t>用另一种颜色订正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4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红鲱鱼就是为了不回答而转移</a:t>
            </a:r>
            <a:r>
              <a:rPr sz="2600" b="1">
                <a:solidFill>
                  <a:srgbClr val="1F2A44"/>
                </a:solidFill>
                <a:latin typeface="Nunito Sans"/>
              </a:rPr>
              <a:t>话题</a:t>
            </a:r>
            <a:r>
              <a:rPr sz="2600" b="0">
                <a:solidFill>
                  <a:srgbClr val="1F2A44"/>
                </a:solidFill>
                <a:latin typeface="Nunito Sans"/>
              </a:rPr>
              <a:t>。  （第17课）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拆穿它的问题：这和我们刚才谈的有什么</a:t>
            </a:r>
            <a:r>
              <a:rPr sz="2600" b="1">
                <a:solidFill>
                  <a:srgbClr val="1F2A44"/>
                </a:solidFill>
                <a:latin typeface="Nunito Sans"/>
              </a:rPr>
              <a:t>关系</a:t>
            </a:r>
            <a:r>
              <a:rPr sz="2600" b="0">
                <a:solidFill>
                  <a:srgbClr val="1F2A44"/>
                </a:solidFill>
                <a:latin typeface="Nunito Sans"/>
              </a:rPr>
              <a:t>？  （第17课）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谬误是一种</a:t>
            </a:r>
            <a:r>
              <a:rPr sz="2600" b="1">
                <a:solidFill>
                  <a:srgbClr val="1F2A44"/>
                </a:solidFill>
                <a:latin typeface="Nunito Sans"/>
              </a:rPr>
              <a:t>看起来像</a:t>
            </a:r>
            <a:r>
              <a:rPr sz="2600" b="0">
                <a:solidFill>
                  <a:srgbClr val="1F2A44"/>
                </a:solidFill>
                <a:latin typeface="Nunito Sans"/>
              </a:rPr>
              <a:t>好论证、实际上并不好的论证。  （第13课）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PARA EMPEZAR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00" y="1300000"/>
            <a:ext cx="90000" cy="2400000"/>
          </a:xfrm>
          <a:prstGeom prst="rect">
            <a:avLst/>
          </a:prstGeom>
          <a:solidFill>
            <a:srgbClr val="E879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40000" y="1300000"/>
            <a:ext cx="10612000" cy="26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530"/>
              </a:spcAft>
            </a:pPr>
            <a:r>
              <a:rPr sz="3400" b="1">
                <a:solidFill>
                  <a:srgbClr val="1F2A44"/>
                </a:solidFill>
                <a:latin typeface="Nunito Sans"/>
              </a:rPr>
              <a:t>“你别发表意见，你总是迟到。而且，如果你不同意我，你就没有朋友了。对了，你看比赛了吗？”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00" y="4300000"/>
            <a:ext cx="10912000" cy="12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在这三句话里，你能找出多少个花招？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第1部分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单元复习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单元复习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谬误（第 13 课）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10912000" cy="115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3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1F2A44"/>
                </a:solidFill>
                <a:latin typeface="Nunito Sans"/>
              </a:rPr>
              <a:t>看起来不错、其实不然的论证：它的理由撑不起结论。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3000000"/>
            <a:ext cx="10912000" cy="345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Suele fallar: ¿viene a cuento? o ¿es suficiente?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Puede tener una conclusión verdadera: falla el camino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单元复习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攻击与歪曲（第 14、15 课）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谬误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花招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能拆穿它的问题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攻击个人（ad hominem）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攻击说话的人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说话的人是谁，和这有什么关系？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“你也一样”（tu quoque）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你自己也没做到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这会让建议变成假的吗？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稻草人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歪曲别人的想法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我说的真的就是这个意思吗？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单元复习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煽动与转移（第 16、17 课）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00" y="1700000"/>
          <a:ext cx="10912000" cy="24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333"/>
                <a:gridCol w="3637333"/>
                <a:gridCol w="3637334"/>
              </a:tblGrid>
              <a:tr h="600000"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谬误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花招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1">
                          <a:solidFill>
                            <a:srgbClr val="FBF7EF"/>
                          </a:solidFill>
                          <a:latin typeface="Fredoka"/>
                        </a:rPr>
                        <a:t>能拆穿它的问题</a:t>
                      </a:r>
                    </a:p>
                  </a:txBody>
                  <a:tcPr>
                    <a:solidFill>
                      <a:srgbClr val="1F2A44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诉诸恐惧（ad metum）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没有证据就吓唬人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这个危险是真的吗？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诉诸同情（ad misericordiam）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博同情，不给理由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如果去掉同情，还剩下什么理由？</a:t>
                      </a:r>
                    </a:p>
                  </a:txBody>
                  <a:tcPr>
                    <a:solidFill>
                      <a:srgbClr val="EAF0F7"/>
                    </a:solidFill>
                  </a:tcPr>
                </a:tc>
              </a:tr>
              <a:tr h="600000"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假线索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转移话题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2000" b="0">
                          <a:solidFill>
                            <a:srgbClr val="1F2A44"/>
                          </a:solidFill>
                          <a:latin typeface="Nunito Sans"/>
                        </a:rPr>
                        <a:t>这和我们刚才说的有什么关系？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单元复习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不是谬误的情况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50000"/>
            <a:ext cx="5306000" cy="4400000"/>
          </a:xfrm>
          <a:prstGeom prst="rect">
            <a:avLst/>
          </a:prstGeom>
          <a:solidFill>
            <a:srgbClr val="FBE3D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C2531C"/>
                </a:solidFill>
                <a:latin typeface="Nunito Sans"/>
              </a:rPr>
              <a:t>谬误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0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Atacar a la persona sin más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Exagerar la idea del otro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Asustar sin pruebas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Cambiar de tema para esquivar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6000" y="1650000"/>
            <a:ext cx="5306000" cy="4400000"/>
          </a:xfrm>
          <a:prstGeom prst="rect">
            <a:avLst/>
          </a:prstGeom>
          <a:solidFill>
            <a:srgbClr val="EAF0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46000" y="1750000"/>
            <a:ext cx="4906000" cy="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2F6FB5"/>
                </a:solidFill>
                <a:latin typeface="Nunito Sans"/>
              </a:rPr>
              <a:t>正当的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46000" y="2400000"/>
            <a:ext cx="4906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Dudar de quien gana dinero con ello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Resumir la idea con justicia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Avisar de un peligro real con razones</a:t>
            </a:r>
          </a:p>
          <a:p>
            <a:pPr>
              <a:spcAft>
                <a:spcPts val="1170"/>
              </a:spcAft>
            </a:pPr>
            <a:r>
              <a:rPr sz="26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600" b="0">
                <a:solidFill>
                  <a:srgbClr val="1F2A44"/>
                </a:solidFill>
                <a:latin typeface="Nunito Sans"/>
              </a:rPr>
              <a:t>Cambiar de tema por algo urgente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第1部分 · 单元复习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怎样分析一句可疑的话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650000"/>
            <a:ext cx="10912000" cy="480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1. ¿Qué me piden creer o hacer?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2. ¿Qué razón me dan?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3. ¿Viene a cuento? ¿Habla de la idea o de otra cosa?</a:t>
            </a:r>
          </a:p>
          <a:p>
            <a:pPr>
              <a:spcAft>
                <a:spcPts val="1260"/>
              </a:spcAft>
            </a:pPr>
            <a:r>
              <a:rPr sz="2800" b="1">
                <a:solidFill>
                  <a:srgbClr val="E8793A"/>
                </a:solidFill>
                <a:latin typeface="Nunito Sans"/>
              </a:rPr>
              <a:t>• </a:t>
            </a:r>
            <a:r>
              <a:rPr sz="2800" b="0">
                <a:solidFill>
                  <a:srgbClr val="1F2A44"/>
                </a:solidFill>
                <a:latin typeface="Nunito Sans"/>
              </a:rPr>
              <a:t>4. Si es un truco, ponle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nombre</a:t>
            </a:r>
            <a:r>
              <a:rPr sz="2800" b="0">
                <a:solidFill>
                  <a:srgbClr val="1F2A44"/>
                </a:solidFill>
                <a:latin typeface="Nunito Sans"/>
              </a:rPr>
              <a:t> y hazle su </a:t>
            </a:r>
            <a:r>
              <a:rPr sz="2800" b="1">
                <a:solidFill>
                  <a:srgbClr val="1F2A44"/>
                </a:solidFill>
                <a:latin typeface="Nunito Sans"/>
              </a:rPr>
              <a:t>pregunta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2300000"/>
            <a:ext cx="10912000" cy="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10"/>
              </a:spcAft>
            </a:pPr>
            <a:r>
              <a:rPr sz="1800" b="1">
                <a:solidFill>
                  <a:srgbClr val="F4B183"/>
                </a:solidFill>
                <a:latin typeface="Nunito Sans"/>
              </a:rPr>
              <a:t>第2部分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280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160"/>
              </a:spcAft>
            </a:pPr>
            <a:r>
              <a:rPr sz="4800" b="1">
                <a:solidFill>
                  <a:srgbClr val="FBF7EF"/>
                </a:solidFill>
                <a:latin typeface="Fredoka"/>
              </a:rPr>
              <a:t>解决的案例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第2部分 · 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三句话里的三个花招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“你别发表意见，你总是迟到。而且，如果你不同意我，你就没有朋友了。对了，你看比赛了吗？”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“你总是迟到”：攻击个人，而不是他的观点。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“你就没有朋友了”：诉诸恐惧，没有证据。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“你看比赛了吗？”：假线索，转移话题。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结论：三个谬误，没有一个理由。对方的观点依然没有得到回应。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C9A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1F2A44"/>
                </a:solidFill>
                <a:latin typeface="Nunito Sans"/>
              </a:rPr>
              <a:t>CASO TRAMPA · 第2部分 · 解决的案例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⚠ 恐惧和着急：总是谬误吗？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1600000"/>
            <a:ext cx="10912000" cy="11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40000" y="1650000"/>
            <a:ext cx="10512000" cy="1000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>
              <a:spcAft>
                <a:spcPts val="1170"/>
              </a:spcAft>
            </a:pPr>
            <a:r>
              <a:rPr sz="2600" b="1">
                <a:solidFill>
                  <a:srgbClr val="1F2A44"/>
                </a:solidFill>
                <a:latin typeface="Nunito Sans"/>
              </a:rPr>
              <a:t>火警响了。老师：“马上出去，排好队，不要拿书包！”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00" y="2900000"/>
            <a:ext cx="10912000" cy="3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它让人害怕、让人着急，就像微信（WhatsApp）连锁消息一样。它是诉诸恐惧吗？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既有恐惧，也有着急：让人没法冷静思考。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但危险是真的，或者可能是真的：警报就是信号。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4.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这里停下来争论才是危险的。以后再去核实。</a:t>
            </a:r>
          </a:p>
          <a:p>
            <a:pPr>
              <a:spcAft>
                <a:spcPts val="1080"/>
              </a:spcAft>
            </a:pPr>
            <a:r>
              <a:rPr sz="2400" b="1">
                <a:solidFill>
                  <a:srgbClr val="E8793A"/>
                </a:solidFill>
                <a:latin typeface="Nunito Sans"/>
              </a:rPr>
              <a:t>5. </a:t>
            </a:r>
            <a:r>
              <a:rPr sz="2400" b="0">
                <a:solidFill>
                  <a:srgbClr val="1F2A44"/>
                </a:solidFill>
                <a:latin typeface="Nunito Sans"/>
              </a:rPr>
              <a:t>结论：这不是谬误。要看危险是不是真的，而不只是看它吓不吓人。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1F2A44"/>
                </a:solidFill>
                <a:latin typeface="Fredoka"/>
              </a:rPr>
              <a:t>先自己写，不看笔记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00" y="18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170"/>
              </a:spcAft>
            </a:pPr>
            <a:r>
              <a:rPr sz="2600" b="0">
                <a:solidFill>
                  <a:srgbClr val="4A5568"/>
                </a:solidFill>
                <a:latin typeface="Nunito Sans"/>
              </a:rPr>
              <a:t>两分钟。然后我们一起对照。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BF7E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E8793A"/>
                </a:solidFill>
                <a:latin typeface="Nunito Sans"/>
              </a:rPr>
              <a:t>LO DE HOY EN TRES LÍNEAS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1300000"/>
            <a:ext cx="10912000" cy="4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1.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谬误看起来像好论证，但它的理由撑不起结论。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2.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这个单元里的谬误攻击个人、歪曲想法、转移话题或利用情绪。</a:t>
            </a:r>
          </a:p>
          <a:p>
            <a:pPr>
              <a:spcAft>
                <a:spcPts val="1350"/>
              </a:spcAft>
            </a:pPr>
            <a:r>
              <a:rPr sz="3000" b="1">
                <a:solidFill>
                  <a:srgbClr val="E8793A"/>
                </a:solidFill>
                <a:latin typeface="Nunito Sans"/>
              </a:rPr>
              <a:t>3. </a:t>
            </a:r>
            <a:r>
              <a:rPr sz="3000" b="0">
                <a:solidFill>
                  <a:srgbClr val="1F2A44"/>
                </a:solidFill>
                <a:latin typeface="Nunito Sans"/>
              </a:rPr>
              <a:t>每一种谬误都有一个能拆穿它的问题。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A4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00" y="380000"/>
            <a:ext cx="10912000" cy="4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630"/>
              </a:spcAft>
            </a:pPr>
            <a:r>
              <a:rPr sz="1400" b="1">
                <a:solidFill>
                  <a:srgbClr val="F4B183"/>
                </a:solidFill>
                <a:latin typeface="Nunito Sans"/>
              </a:rPr>
              <a:t>AHORA, LA HOJA DEL DÍA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00" y="760000"/>
            <a:ext cx="10912000" cy="8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10"/>
              </a:spcAft>
            </a:pPr>
            <a:r>
              <a:rPr sz="3800" b="1">
                <a:solidFill>
                  <a:srgbClr val="FBF7EF"/>
                </a:solidFill>
                <a:latin typeface="Fredoka"/>
              </a:rPr>
              <a:t>20 分钟 · 独立完成 · 保持安静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90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台阶1 · 人人都做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90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6 分</a:t>
            </a:r>
          </a:p>
        </p:txBody>
      </p:sp>
      <p:sp>
        <p:nvSpPr>
          <p:cNvPr id="7" name="Rectangle 6"/>
          <p:cNvSpPr/>
          <p:nvPr/>
        </p:nvSpPr>
        <p:spPr>
          <a:xfrm>
            <a:off x="4344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494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台阶2 · 复习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94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0" name="Rectangle 9"/>
          <p:cNvSpPr/>
          <p:nvPr/>
        </p:nvSpPr>
        <p:spPr>
          <a:xfrm>
            <a:off x="8048000" y="2000000"/>
            <a:ext cx="3504000" cy="1800000"/>
          </a:xfrm>
          <a:prstGeom prst="rect">
            <a:avLst/>
          </a:prstGeom>
          <a:solidFill>
            <a:srgbClr val="FBF7E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198000" y="21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1">
                <a:solidFill>
                  <a:srgbClr val="E8793A"/>
                </a:solidFill>
                <a:latin typeface="Nunito Sans"/>
              </a:rPr>
              <a:t>台阶3 · 挑战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98000" y="2900000"/>
            <a:ext cx="3204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00"/>
              </a:spcAft>
            </a:pPr>
            <a:r>
              <a:rPr sz="2000" b="0">
                <a:solidFill>
                  <a:srgbClr val="4A5568"/>
                </a:solidFill>
                <a:latin typeface="Nunito Sans"/>
              </a:rPr>
              <a:t>2 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00" y="4200000"/>
            <a:ext cx="10912000" cy="15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990"/>
              </a:spcAft>
            </a:pPr>
            <a:r>
              <a:rPr sz="2200" b="0">
                <a:solidFill>
                  <a:srgbClr val="C9D3E6"/>
                </a:solidFill>
                <a:latin typeface="Nunito Sans"/>
              </a:rPr>
              <a:t>不看笔记。在每个答案旁边标出“确定”或“不确定”。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