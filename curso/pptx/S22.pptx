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批判性思维 · 第22课 · 第4单元 · 谬误 II：错误的推理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虚假因果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一件事发生在另一件事之后，或者同时发生，并不足以说明前一件事就是它的原因。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在你的练习单上写出缺少的词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滑坡谬误和诉诸______很像：用结局来吓人。  （第21课）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滑坡谬误就像一个______：一上去就停不下来。  （第21课）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英语里，红鲱鱼叫作 red ______。  （第17课）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用另一种颜色订正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滑坡谬误和诉诸</a:t>
            </a:r>
            <a:r>
              <a:rPr sz="2600" b="1">
                <a:solidFill>
                  <a:srgbClr val="1F2A44"/>
                </a:solidFill>
                <a:latin typeface="Nunito Sans"/>
              </a:rPr>
              <a:t>害怕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很像：用结局来吓人。  （第21课）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滑坡谬误就像一个</a:t>
            </a:r>
            <a:r>
              <a:rPr sz="2600" b="1">
                <a:solidFill>
                  <a:srgbClr val="1F2A44"/>
                </a:solidFill>
                <a:latin typeface="Nunito Sans"/>
              </a:rPr>
              <a:t>滑梯</a:t>
            </a:r>
            <a:r>
              <a:rPr sz="2600" b="0">
                <a:solidFill>
                  <a:srgbClr val="1F2A44"/>
                </a:solidFill>
                <a:latin typeface="Nunito Sans"/>
              </a:rPr>
              <a:t>：一上去就停不下来。  （第21课）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英语里，红鲱鱼叫作 red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herring</a:t>
            </a:r>
            <a:r>
              <a:rPr sz="2600" b="0">
                <a:solidFill>
                  <a:srgbClr val="1F2A44"/>
                </a:solidFill>
                <a:latin typeface="Nunito Sans"/>
              </a:rPr>
              <a:t>。  （第17课）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“自从我戴上这条红手链，毕尔巴鄂竞技（Athletic）已经连赢了三场比赛。这条手链能带来好运。”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这条手链和进球有什么关系？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第1部分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“在这之后”不等于“因为这个”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“在这之后”不等于“因为这个”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虚假因果（post hoc）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只因为一件事发生在前面，或者两件事同时出现，就认为其中一件导致了另一件，却不去看其他解释。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Causa</a:t>
            </a:r>
            <a:r>
              <a:rPr sz="2800" b="0">
                <a:solidFill>
                  <a:srgbClr val="1F2A44"/>
                </a:solidFill>
                <a:latin typeface="Nunito Sans"/>
              </a:rPr>
              <a:t>: lo que hace que ocurra otra cosa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En latín,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post hoc</a:t>
            </a:r>
            <a:r>
              <a:rPr sz="2800" b="0">
                <a:solidFill>
                  <a:srgbClr val="1F2A44"/>
                </a:solidFill>
                <a:latin typeface="Nunito Sans"/>
              </a:rPr>
              <a:t>: «después de esto»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«Después de» no es «</a:t>
            </a:r>
            <a:r>
              <a:rPr sz="2800" b="1">
                <a:solidFill>
                  <a:srgbClr val="1F2A44"/>
                </a:solidFill>
                <a:latin typeface="Nunito Sans"/>
              </a:rPr>
              <a:t>por culpa de</a:t>
            </a:r>
            <a:r>
              <a:rPr sz="2800" b="0">
                <a:solidFill>
                  <a:srgbClr val="1F2A44"/>
                </a:solidFill>
                <a:latin typeface="Nunito Sans"/>
              </a:rPr>
              <a:t>»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Pregunta: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¿podría ser casualidad o haber otra causa?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“在这之后”不等于“因为这个”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虚假因果的两种形式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18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333"/>
                <a:gridCol w="3637333"/>
                <a:gridCol w="3637334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形式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错误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例子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在这之后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先发生，所以就是原因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“我剪了头发，我们就输了比赛”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同时出现</a:t>
                      </a:r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（相关性）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两件事同时出现，所以一件导致另一件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“冰淇淋卖得越多，烧伤的人越多：冰淇淋会烫人”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第2部分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已解决的案例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 1 · 红手环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“自从我戴上这条红手链，毕尔巴鄂竞技（Athletic）已经连赢了三场比赛。这条手链能带来好运。”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之前发生了什么？戴上手环。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之后发生了什么？赢了三场。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还有别的解释吗？球队踢得好，对手很弱，或者只是巧合。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结论：虚假因果（post hoc）。“在这之后”不等于“因为这个”。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 2 · 早餐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编造的新闻：“在家吃早餐的学生成绩更好”。Iker 得出结论：“吃早餐会让你更聪明”。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它们同时出现吗？是的：在家吃早餐和成绩好。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可能有第三个原因吗？有：睡得好、作息规律、家里有人帮助。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早餐也许有帮助，但这个数据只说明它们同时出现。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结论：同时出现还不够。要知道谁导致谁，还需要更多证据。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 3 · 找得对的原因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Maialen 下午不再喝能量饮料，三个星期里都睡得更早。她又开始喝，又睡不好了。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只发生了一次吗？不是：她观察了好几个星期。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她去掉又加上原因了吗？是的，结果也跟着变化。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有解释吗？有：能量饮料含咖啡因，而咖啡因会让人睡不着。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结论：这不是谬误。真正的原因要多次检验，并且能够解释。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第3部分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虚假因果忽略了什么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第3部分 · 虚假因果忽略了什么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需要看的三种解释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650000"/>
            <a:ext cx="10912000" cy="48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Casualidad: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pasaron juntas por azar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Una tercera causa: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el calor sube los helados y las quemaduras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Al revés: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quizá lo que parecía efecto es la causa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第3部分 · 虚假因果忽略了什么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虾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Chen 第一次吃虾。十分钟后，他的嘴唇肿了起来，皮肤发痒。他妈妈说：“是虾引起的。”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发生在后面……是虚假因果吗？“在这之后”不等于“因为这个”。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它有“发生在后面，所以就是原因”的形式。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但有一个已知的解释：食物过敏正是这样，而且很快就发作。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而且可以检验：医院里有过敏检查。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结论：“在这之后”不够，但可能是一条好线索。只有在你什么都不再看的时候，才是谬误。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先自己写，不看笔记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两分钟。然后我们一起对照。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虚假因果是只因为A发生在前面或者和B同时出现，就认为A导致B。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“在这之后”不等于“因为这个”，只有相关性也不能证明因果。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问题：这可能是巧合、第三个原因，或者反过来吗？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分钟 · 独立完成 · 保持安静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台阶1 · 人人都做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分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台阶2 · 复习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台阶3 · 挑战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第一遍：不看笔记，用圆珠笔写。第二遍：看笔记，换一种颜色。每个答案都标出“确定”或“不确定”。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