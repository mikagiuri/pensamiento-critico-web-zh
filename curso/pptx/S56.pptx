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10652000" y="380000"/>
            <a:ext cx="900000" cy="800000"/>
          </a:xfrm>
          <a:prstGeom prst="rect">
            <a:avLst/>
          </a:prstGeom>
          <a:noFill/>
        </p:spPr>
        <p:txBody>
          <a:bodyPr wrap="square">
            <a:spAutoFit/>
          </a:bodyPr>
          <a:lstStyle/>
          <a:p>
            <a:pPr>
              <a:spcAft>
                <a:spcPts val="1980"/>
              </a:spcAft>
            </a:pPr>
            <a:r>
              <a:rPr sz="4400" b="0">
                <a:solidFill>
                  <a:srgbClr val="1F2A44"/>
                </a:solidFill>
                <a:latin typeface="Nunito Sans"/>
              </a:rPr>
              <a:t>🙃</a:t>
            </a:r>
          </a:p>
        </p:txBody>
      </p:sp>
      <p:sp>
        <p:nvSpPr>
          <p:cNvPr id="3" name="TextBox 2"/>
          <p:cNvSpPr txBox="1"/>
          <p:nvPr/>
        </p:nvSpPr>
        <p:spPr>
          <a:xfrm>
            <a:off x="640000" y="1050000"/>
            <a:ext cx="10912000" cy="420000"/>
          </a:xfrm>
          <a:prstGeom prst="rect">
            <a:avLst/>
          </a:prstGeom>
          <a:noFill/>
        </p:spPr>
        <p:txBody>
          <a:bodyPr wrap="square">
            <a:spAutoFit/>
          </a:bodyPr>
          <a:lstStyle/>
          <a:p>
            <a:pPr>
              <a:spcAft>
                <a:spcPts val="585"/>
              </a:spcAft>
            </a:pPr>
            <a:r>
              <a:rPr sz="1300" b="1">
                <a:solidFill>
                  <a:srgbClr val="E8793A"/>
                </a:solidFill>
                <a:latin typeface="Nunito Sans"/>
              </a:rPr>
              <a:t>批判性思维 · 第56课 · 第10单元 · 自己思考</a:t>
            </a:r>
          </a:p>
        </p:txBody>
      </p:sp>
      <p:sp>
        <p:nvSpPr>
          <p:cNvPr id="4" name="TextBox 3"/>
          <p:cNvSpPr txBox="1"/>
          <p:nvPr/>
        </p:nvSpPr>
        <p:spPr>
          <a:xfrm>
            <a:off x="640000" y="1550000"/>
            <a:ext cx="10912000" cy="800000"/>
          </a:xfrm>
          <a:prstGeom prst="rect">
            <a:avLst/>
          </a:prstGeom>
          <a:noFill/>
        </p:spPr>
        <p:txBody>
          <a:bodyPr wrap="square">
            <a:spAutoFit/>
          </a:bodyPr>
          <a:lstStyle/>
          <a:p>
            <a:pPr>
              <a:spcAft>
                <a:spcPts val="2250"/>
              </a:spcAft>
            </a:pPr>
            <a:r>
              <a:rPr sz="5000" b="1">
                <a:solidFill>
                  <a:srgbClr val="1F2A44"/>
                </a:solidFill>
                <a:latin typeface="Fredoka"/>
              </a:rPr>
              <a:t>有判断力地使用人工智能</a:t>
            </a:r>
          </a:p>
        </p:txBody>
      </p:sp>
      <p:sp>
        <p:nvSpPr>
          <p:cNvPr id="5" name="TextBox 4"/>
          <p:cNvSpPr txBox="1"/>
          <p:nvPr/>
        </p:nvSpPr>
        <p:spPr>
          <a:xfrm>
            <a:off x="640000" y="4300000"/>
            <a:ext cx="10912000" cy="1600000"/>
          </a:xfrm>
          <a:prstGeom prst="rect">
            <a:avLst/>
          </a:prstGeom>
          <a:noFill/>
        </p:spPr>
        <p:txBody>
          <a:bodyPr wrap="square">
            <a:spAutoFit/>
          </a:bodyPr>
          <a:lstStyle/>
          <a:p>
            <a:pPr>
              <a:spcAft>
                <a:spcPts val="1080"/>
              </a:spcAft>
            </a:pPr>
            <a:r>
              <a:rPr sz="2400" b="0">
                <a:solidFill>
                  <a:srgbClr val="4A5568"/>
                </a:solidFill>
                <a:latin typeface="Nunito Sans"/>
              </a:rPr>
              <a:t>人工智能可以帮忙，也常常答对，但它也会十分自信地编造数据和来源：要像检查其他来源一样去核实。</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ANTES DE EMPEZAR · SIN MIRAR</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440"/>
              </a:spcAft>
            </a:pPr>
            <a:r>
              <a:rPr sz="3200" b="1">
                <a:solidFill>
                  <a:srgbClr val="1F2A44"/>
                </a:solidFill>
                <a:latin typeface="Fredoka"/>
              </a:rPr>
              <a:t>在你的练习单上写出缺少的词</a:t>
            </a:r>
          </a:p>
        </p:txBody>
      </p:sp>
      <p:sp>
        <p:nvSpPr>
          <p:cNvPr id="4" name="TextBox 3"/>
          <p:cNvSpPr txBox="1"/>
          <p:nvPr/>
        </p:nvSpPr>
        <p:spPr>
          <a:xfrm>
            <a:off x="640000" y="1800000"/>
            <a:ext cx="10912000" cy="4300000"/>
          </a:xfrm>
          <a:prstGeom prst="rect">
            <a:avLst/>
          </a:prstGeom>
          <a:noFill/>
        </p:spPr>
        <p:txBody>
          <a:bodyPr wrap="square">
            <a:spAutoFit/>
          </a:bodyPr>
          <a:lstStyle/>
          <a:p>
            <a:pPr>
              <a:spcAft>
                <a:spcPts val="1170"/>
              </a:spcAft>
            </a:pPr>
            <a:r>
              <a:rPr sz="2600" b="1">
                <a:solidFill>
                  <a:srgbClr val="E8793A"/>
                </a:solidFill>
                <a:latin typeface="Nunito Sans"/>
              </a:rPr>
              <a:t>1. </a:t>
            </a:r>
            <a:r>
              <a:rPr sz="2600" b="0">
                <a:solidFill>
                  <a:srgbClr val="1F2A44"/>
                </a:solidFill>
                <a:latin typeface="Nunito Sans"/>
              </a:rPr>
              <a:t>自己思考不是______思考：我可以听取别人的意见，也可以相信专家。  （第55课）</a:t>
            </a:r>
          </a:p>
          <a:p>
            <a:pPr>
              <a:spcAft>
                <a:spcPts val="1170"/>
              </a:spcAft>
            </a:pPr>
            <a:r>
              <a:rPr sz="2600" b="1">
                <a:solidFill>
                  <a:srgbClr val="E8793A"/>
                </a:solidFill>
                <a:latin typeface="Nunito Sans"/>
              </a:rPr>
              <a:t>2. </a:t>
            </a:r>
            <a:r>
              <a:rPr sz="2600" b="0">
                <a:solidFill>
                  <a:srgbClr val="1F2A44"/>
                </a:solidFill>
                <a:latin typeface="Nunito Sans"/>
              </a:rPr>
              <a:t>在自己的领域里相信一位______是一个好理由。  （第55课）</a:t>
            </a:r>
          </a:p>
          <a:p>
            <a:pPr>
              <a:spcAft>
                <a:spcPts val="1170"/>
              </a:spcAft>
            </a:pPr>
            <a:r>
              <a:rPr sz="2600" b="1">
                <a:solidFill>
                  <a:srgbClr val="E8793A"/>
                </a:solidFill>
                <a:latin typeface="Nunito Sans"/>
              </a:rPr>
              <a:t>3. </a:t>
            </a:r>
            <a:r>
              <a:rPr sz="2600" b="0">
                <a:solidFill>
                  <a:srgbClr val="1F2A44"/>
                </a:solidFill>
                <a:latin typeface="Nunito Sans"/>
              </a:rPr>
              <a:t>网红是在社交媒体上有很多______的人。  （第51课）</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ANTES DE EMPEZAR · SIN MIRAR</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440"/>
              </a:spcAft>
            </a:pPr>
            <a:r>
              <a:rPr sz="3200" b="1">
                <a:solidFill>
                  <a:srgbClr val="1F2A44"/>
                </a:solidFill>
                <a:latin typeface="Fredoka"/>
              </a:rPr>
              <a:t>用另一种颜色订正</a:t>
            </a:r>
          </a:p>
        </p:txBody>
      </p:sp>
      <p:sp>
        <p:nvSpPr>
          <p:cNvPr id="4" name="TextBox 3"/>
          <p:cNvSpPr txBox="1"/>
          <p:nvPr/>
        </p:nvSpPr>
        <p:spPr>
          <a:xfrm>
            <a:off x="640000" y="1800000"/>
            <a:ext cx="10912000" cy="4300000"/>
          </a:xfrm>
          <a:prstGeom prst="rect">
            <a:avLst/>
          </a:prstGeom>
          <a:noFill/>
        </p:spPr>
        <p:txBody>
          <a:bodyPr wrap="square">
            <a:spAutoFit/>
          </a:bodyPr>
          <a:lstStyle/>
          <a:p>
            <a:pPr>
              <a:spcAft>
                <a:spcPts val="1170"/>
              </a:spcAft>
            </a:pPr>
            <a:r>
              <a:rPr sz="2600" b="1">
                <a:solidFill>
                  <a:srgbClr val="E8793A"/>
                </a:solidFill>
                <a:latin typeface="Nunito Sans"/>
              </a:rPr>
              <a:t>1. </a:t>
            </a:r>
            <a:r>
              <a:rPr sz="2600" b="0">
                <a:solidFill>
                  <a:srgbClr val="1F2A44"/>
                </a:solidFill>
                <a:latin typeface="Nunito Sans"/>
              </a:rPr>
              <a:t>自己思考不是</a:t>
            </a:r>
            <a:r>
              <a:rPr sz="2600" b="1">
                <a:solidFill>
                  <a:srgbClr val="1F2A44"/>
                </a:solidFill>
                <a:latin typeface="Nunito Sans"/>
              </a:rPr>
              <a:t>独自</a:t>
            </a:r>
            <a:r>
              <a:rPr sz="2600" b="0">
                <a:solidFill>
                  <a:srgbClr val="1F2A44"/>
                </a:solidFill>
                <a:latin typeface="Nunito Sans"/>
              </a:rPr>
              <a:t>思考：我可以听取别人的意见，也可以相信专家。  （第55课）</a:t>
            </a:r>
          </a:p>
          <a:p>
            <a:pPr>
              <a:spcAft>
                <a:spcPts val="1170"/>
              </a:spcAft>
            </a:pPr>
            <a:r>
              <a:rPr sz="2600" b="1">
                <a:solidFill>
                  <a:srgbClr val="E8793A"/>
                </a:solidFill>
                <a:latin typeface="Nunito Sans"/>
              </a:rPr>
              <a:t>2. </a:t>
            </a:r>
            <a:r>
              <a:rPr sz="2600" b="0">
                <a:solidFill>
                  <a:srgbClr val="1F2A44"/>
                </a:solidFill>
                <a:latin typeface="Nunito Sans"/>
              </a:rPr>
              <a:t>在自己的领域里相信一位</a:t>
            </a:r>
            <a:r>
              <a:rPr sz="2600" b="1">
                <a:solidFill>
                  <a:srgbClr val="1F2A44"/>
                </a:solidFill>
                <a:latin typeface="Nunito Sans"/>
              </a:rPr>
              <a:t>专家</a:t>
            </a:r>
            <a:r>
              <a:rPr sz="2600" b="0">
                <a:solidFill>
                  <a:srgbClr val="1F2A44"/>
                </a:solidFill>
                <a:latin typeface="Nunito Sans"/>
              </a:rPr>
              <a:t>是一个好理由。  （第55课）</a:t>
            </a:r>
          </a:p>
          <a:p>
            <a:pPr>
              <a:spcAft>
                <a:spcPts val="1170"/>
              </a:spcAft>
            </a:pPr>
            <a:r>
              <a:rPr sz="2600" b="1">
                <a:solidFill>
                  <a:srgbClr val="E8793A"/>
                </a:solidFill>
                <a:latin typeface="Nunito Sans"/>
              </a:rPr>
              <a:t>3. </a:t>
            </a:r>
            <a:r>
              <a:rPr sz="2600" b="0">
                <a:solidFill>
                  <a:srgbClr val="1F2A44"/>
                </a:solidFill>
                <a:latin typeface="Nunito Sans"/>
              </a:rPr>
              <a:t>网红是在社交媒体上有很多</a:t>
            </a:r>
            <a:r>
              <a:rPr sz="2600" b="1">
                <a:solidFill>
                  <a:srgbClr val="1F2A44"/>
                </a:solidFill>
                <a:latin typeface="Nunito Sans"/>
              </a:rPr>
              <a:t>粉丝</a:t>
            </a:r>
            <a:r>
              <a:rPr sz="2600" b="0">
                <a:solidFill>
                  <a:srgbClr val="1F2A44"/>
                </a:solidFill>
                <a:latin typeface="Nunito Sans"/>
              </a:rPr>
              <a:t>的人。  （第51课）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PARA EMPEZAR</a:t>
            </a:r>
          </a:p>
        </p:txBody>
      </p:sp>
      <p:sp>
        <p:nvSpPr>
          <p:cNvPr id="3" name="Rectangle 2"/>
          <p:cNvSpPr/>
          <p:nvPr/>
        </p:nvSpPr>
        <p:spPr>
          <a:xfrm>
            <a:off x="640000" y="1300000"/>
            <a:ext cx="90000" cy="2400000"/>
          </a:xfrm>
          <a:prstGeom prst="rect">
            <a:avLst/>
          </a:prstGeom>
          <a:solidFill>
            <a:srgbClr val="E879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40000" y="1300000"/>
            <a:ext cx="10612000" cy="2600000"/>
          </a:xfrm>
          <a:prstGeom prst="rect">
            <a:avLst/>
          </a:prstGeom>
          <a:noFill/>
        </p:spPr>
        <p:txBody>
          <a:bodyPr wrap="square" anchor="ctr">
            <a:spAutoFit/>
          </a:bodyPr>
          <a:lstStyle/>
          <a:p>
            <a:pPr>
              <a:spcAft>
                <a:spcPts val="1530"/>
              </a:spcAft>
            </a:pPr>
            <a:r>
              <a:rPr sz="3400" b="1">
                <a:solidFill>
                  <a:srgbClr val="1F2A44"/>
                </a:solidFill>
                <a:latin typeface="Nunito Sans"/>
              </a:rPr>
              <a:t>奥马尔让一个人工智能为一项作业推荐三本关于毕尔巴鄂竞技历史的书。人工智能给出了书名、作者和年份。其中两本书并不存在。</a:t>
            </a:r>
          </a:p>
        </p:txBody>
      </p:sp>
      <p:sp>
        <p:nvSpPr>
          <p:cNvPr id="5" name="TextBox 4"/>
          <p:cNvSpPr txBox="1"/>
          <p:nvPr/>
        </p:nvSpPr>
        <p:spPr>
          <a:xfrm>
            <a:off x="640000" y="4300000"/>
            <a:ext cx="10912000" cy="1200000"/>
          </a:xfrm>
          <a:prstGeom prst="rect">
            <a:avLst/>
          </a:prstGeom>
          <a:noFill/>
        </p:spPr>
        <p:txBody>
          <a:bodyPr wrap="square">
            <a:spAutoFit/>
          </a:bodyPr>
          <a:lstStyle/>
          <a:p>
            <a:pPr>
              <a:spcAft>
                <a:spcPts val="1170"/>
              </a:spcAft>
            </a:pPr>
            <a:r>
              <a:rPr sz="2600" b="0">
                <a:solidFill>
                  <a:srgbClr val="4A5568"/>
                </a:solidFill>
                <a:latin typeface="Nunito Sans"/>
              </a:rPr>
              <a:t>奥马尔在交作业之前，本来可以怎样发现这一点？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640000" y="2300000"/>
            <a:ext cx="10912000" cy="500000"/>
          </a:xfrm>
          <a:prstGeom prst="rect">
            <a:avLst/>
          </a:prstGeom>
          <a:noFill/>
        </p:spPr>
        <p:txBody>
          <a:bodyPr wrap="square">
            <a:spAutoFit/>
          </a:bodyPr>
          <a:lstStyle/>
          <a:p>
            <a:pPr>
              <a:spcAft>
                <a:spcPts val="810"/>
              </a:spcAft>
            </a:pPr>
            <a:r>
              <a:rPr sz="1800" b="1">
                <a:solidFill>
                  <a:srgbClr val="F4B183"/>
                </a:solidFill>
                <a:latin typeface="Nunito Sans"/>
              </a:rPr>
              <a:t>第1部分</a:t>
            </a:r>
          </a:p>
        </p:txBody>
      </p:sp>
      <p:sp>
        <p:nvSpPr>
          <p:cNvPr id="3" name="TextBox 2"/>
          <p:cNvSpPr txBox="1"/>
          <p:nvPr/>
        </p:nvSpPr>
        <p:spPr>
          <a:xfrm>
            <a:off x="640000" y="2800000"/>
            <a:ext cx="10912000" cy="800000"/>
          </a:xfrm>
          <a:prstGeom prst="rect">
            <a:avLst/>
          </a:prstGeom>
          <a:noFill/>
        </p:spPr>
        <p:txBody>
          <a:bodyPr wrap="square">
            <a:spAutoFit/>
          </a:bodyPr>
          <a:lstStyle/>
          <a:p>
            <a:pPr>
              <a:spcAft>
                <a:spcPts val="2160"/>
              </a:spcAft>
            </a:pPr>
            <a:r>
              <a:rPr sz="4800" b="1">
                <a:solidFill>
                  <a:srgbClr val="FBF7EF"/>
                </a:solidFill>
                <a:latin typeface="Fredoka"/>
              </a:rPr>
              <a:t>它是什么，哪里会出错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第1部分 · 它是什么，哪里会出错</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聊天式人工智能</a:t>
            </a:r>
          </a:p>
        </p:txBody>
      </p:sp>
      <p:sp>
        <p:nvSpPr>
          <p:cNvPr id="4" name="Rectangle 3"/>
          <p:cNvSpPr/>
          <p:nvPr/>
        </p:nvSpPr>
        <p:spPr>
          <a:xfrm>
            <a:off x="640000" y="1650000"/>
            <a:ext cx="10912000" cy="1150000"/>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730000"/>
            <a:ext cx="10512000" cy="1000000"/>
          </a:xfrm>
          <a:prstGeom prst="rect">
            <a:avLst/>
          </a:prstGeom>
          <a:noFill/>
        </p:spPr>
        <p:txBody>
          <a:bodyPr wrap="square" anchor="ctr">
            <a:spAutoFit/>
          </a:bodyPr>
          <a:lstStyle/>
          <a:p>
            <a:pPr>
              <a:spcAft>
                <a:spcPts val="1260"/>
              </a:spcAft>
            </a:pPr>
            <a:r>
              <a:rPr sz="2800" b="1">
                <a:solidFill>
                  <a:srgbClr val="1F2A44"/>
                </a:solidFill>
                <a:latin typeface="Nunito Sans"/>
              </a:rPr>
              <a:t>一种写文字的程序，它一个词一个词地预测接下来最可能出现什么。</a:t>
            </a:r>
          </a:p>
        </p:txBody>
      </p:sp>
      <p:sp>
        <p:nvSpPr>
          <p:cNvPr id="6" name="TextBox 5"/>
          <p:cNvSpPr txBox="1"/>
          <p:nvPr/>
        </p:nvSpPr>
        <p:spPr>
          <a:xfrm>
            <a:off x="640000" y="3000000"/>
            <a:ext cx="10912000" cy="3458000"/>
          </a:xfrm>
          <a:prstGeom prst="rect">
            <a:avLst/>
          </a:prstGeom>
          <a:noFill/>
        </p:spPr>
        <p:txBody>
          <a:bodyPr wrap="square">
            <a:spAutoFit/>
          </a:bodyPr>
          <a:lstStyle/>
          <a:p>
            <a:pPr>
              <a:spcAft>
                <a:spcPts val="1260"/>
              </a:spcAft>
            </a:pPr>
            <a:r>
              <a:rPr sz="2800" b="1">
                <a:solidFill>
                  <a:srgbClr val="E8793A"/>
                </a:solidFill>
                <a:latin typeface="Nunito Sans"/>
              </a:rPr>
              <a:t>• </a:t>
            </a:r>
            <a:r>
              <a:rPr sz="2800" b="0">
                <a:solidFill>
                  <a:srgbClr val="1F2A44"/>
                </a:solidFill>
                <a:latin typeface="Nunito Sans"/>
              </a:rPr>
              <a:t>它学习了大量的文字</a:t>
            </a:r>
          </a:p>
          <a:p>
            <a:pPr>
              <a:spcAft>
                <a:spcPts val="1260"/>
              </a:spcAft>
            </a:pPr>
            <a:r>
              <a:rPr sz="2800" b="1">
                <a:solidFill>
                  <a:srgbClr val="E8793A"/>
                </a:solidFill>
                <a:latin typeface="Nunito Sans"/>
              </a:rPr>
              <a:t>• </a:t>
            </a:r>
            <a:r>
              <a:rPr sz="2800" b="0">
                <a:solidFill>
                  <a:srgbClr val="1F2A44"/>
                </a:solidFill>
                <a:latin typeface="Nunito Sans"/>
              </a:rPr>
              <a:t>它常常答对，但不总是答对</a:t>
            </a:r>
          </a:p>
          <a:p>
            <a:pPr>
              <a:spcAft>
                <a:spcPts val="1260"/>
              </a:spcAft>
            </a:pPr>
            <a:r>
              <a:rPr sz="2800" b="1">
                <a:solidFill>
                  <a:srgbClr val="E8793A"/>
                </a:solidFill>
                <a:latin typeface="Nunito Sans"/>
              </a:rPr>
              <a:t>• </a:t>
            </a:r>
            <a:r>
              <a:rPr sz="2800" b="0">
                <a:solidFill>
                  <a:srgbClr val="1F2A44"/>
                </a:solidFill>
                <a:latin typeface="Nunito Sans"/>
              </a:rPr>
              <a:t>它理解自己说的话吗？专家们对此还有争论</a:t>
            </a:r>
          </a:p>
          <a:p>
            <a:pPr>
              <a:spcAft>
                <a:spcPts val="1260"/>
              </a:spcAft>
            </a:pPr>
            <a:r>
              <a:rPr sz="2800" b="1">
                <a:solidFill>
                  <a:srgbClr val="E8793A"/>
                </a:solidFill>
                <a:latin typeface="Nunito Sans"/>
              </a:rPr>
              <a:t>• </a:t>
            </a:r>
            <a:r>
              <a:rPr sz="2800" b="0">
                <a:solidFill>
                  <a:srgbClr val="1F2A44"/>
                </a:solidFill>
                <a:latin typeface="Nunito Sans"/>
              </a:rPr>
              <a:t>答对的时候和答错的时候，听起来一样有把握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第1部分 · 它是什么，哪里会出错</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哪里会出错，哪里做得好</a:t>
            </a:r>
          </a:p>
        </p:txBody>
      </p:sp>
      <p:sp>
        <p:nvSpPr>
          <p:cNvPr id="4" name="Rectangle 3"/>
          <p:cNvSpPr/>
          <p:nvPr/>
        </p:nvSpPr>
        <p:spPr>
          <a:xfrm>
            <a:off x="640000" y="1650000"/>
            <a:ext cx="5306000" cy="4400000"/>
          </a:xfrm>
          <a:prstGeom prst="rect">
            <a:avLst/>
          </a:prstGeom>
          <a:solidFill>
            <a:srgbClr val="FB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750000"/>
            <a:ext cx="4906000" cy="600000"/>
          </a:xfrm>
          <a:prstGeom prst="rect">
            <a:avLst/>
          </a:prstGeom>
          <a:noFill/>
        </p:spPr>
        <p:txBody>
          <a:bodyPr wrap="square">
            <a:spAutoFit/>
          </a:bodyPr>
          <a:lstStyle/>
          <a:p>
            <a:pPr>
              <a:spcAft>
                <a:spcPts val="1260"/>
              </a:spcAft>
            </a:pPr>
            <a:r>
              <a:rPr sz="2800" b="1">
                <a:solidFill>
                  <a:srgbClr val="C2531C"/>
                </a:solidFill>
                <a:latin typeface="Nunito Sans"/>
              </a:rPr>
              <a:t>哪里会出错</a:t>
            </a:r>
          </a:p>
        </p:txBody>
      </p:sp>
      <p:sp>
        <p:nvSpPr>
          <p:cNvPr id="6" name="TextBox 5"/>
          <p:cNvSpPr txBox="1"/>
          <p:nvPr/>
        </p:nvSpPr>
        <p:spPr>
          <a:xfrm>
            <a:off x="840000" y="2400000"/>
            <a:ext cx="4906000" cy="3500000"/>
          </a:xfrm>
          <a:prstGeom prst="rect">
            <a:avLst/>
          </a:prstGeom>
          <a:noFill/>
        </p:spPr>
        <p:txBody>
          <a:bodyPr wrap="square">
            <a:spAutoFit/>
          </a:bodyPr>
          <a:lstStyle/>
          <a:p>
            <a:pPr>
              <a:spcAft>
                <a:spcPts val="1170"/>
              </a:spcAft>
            </a:pPr>
            <a:r>
              <a:rPr sz="2600" b="1">
                <a:solidFill>
                  <a:srgbClr val="E8793A"/>
                </a:solidFill>
                <a:latin typeface="Nunito Sans"/>
              </a:rPr>
              <a:t>• </a:t>
            </a:r>
            <a:r>
              <a:rPr sz="2600" b="0">
                <a:solidFill>
                  <a:srgbClr val="1F2A44"/>
                </a:solidFill>
                <a:latin typeface="Nunito Sans"/>
              </a:rPr>
              <a:t>编造数据、引文，甚至来源</a:t>
            </a:r>
          </a:p>
          <a:p>
            <a:pPr>
              <a:spcAft>
                <a:spcPts val="1170"/>
              </a:spcAft>
            </a:pPr>
            <a:r>
              <a:rPr sz="2600" b="1">
                <a:solidFill>
                  <a:srgbClr val="E8793A"/>
                </a:solidFill>
                <a:latin typeface="Nunito Sans"/>
              </a:rPr>
              <a:t>• </a:t>
            </a:r>
            <a:r>
              <a:rPr sz="2600" b="0">
                <a:solidFill>
                  <a:srgbClr val="1F2A44"/>
                </a:solidFill>
                <a:latin typeface="Nunito Sans"/>
              </a:rPr>
              <a:t>十分自信地出错</a:t>
            </a:r>
          </a:p>
          <a:p>
            <a:pPr>
              <a:spcAft>
                <a:spcPts val="1170"/>
              </a:spcAft>
            </a:pPr>
            <a:r>
              <a:rPr sz="2600" b="1">
                <a:solidFill>
                  <a:srgbClr val="E8793A"/>
                </a:solidFill>
                <a:latin typeface="Nunito Sans"/>
              </a:rPr>
              <a:t>• </a:t>
            </a:r>
            <a:r>
              <a:rPr sz="2600" b="0">
                <a:solidFill>
                  <a:srgbClr val="1F2A44"/>
                </a:solidFill>
                <a:latin typeface="Nunito Sans"/>
              </a:rPr>
              <a:t>有时没有道理也附和你</a:t>
            </a:r>
          </a:p>
          <a:p>
            <a:pPr>
              <a:spcAft>
                <a:spcPts val="1170"/>
              </a:spcAft>
            </a:pPr>
            <a:r>
              <a:rPr sz="2600" b="1">
                <a:solidFill>
                  <a:srgbClr val="E8793A"/>
                </a:solidFill>
                <a:latin typeface="Nunito Sans"/>
              </a:rPr>
              <a:t>• </a:t>
            </a:r>
            <a:r>
              <a:rPr sz="2600" b="0">
                <a:solidFill>
                  <a:srgbClr val="1F2A44"/>
                </a:solidFill>
                <a:latin typeface="Nunito Sans"/>
              </a:rPr>
              <a:t>可能不是最新的</a:t>
            </a:r>
          </a:p>
        </p:txBody>
      </p:sp>
      <p:sp>
        <p:nvSpPr>
          <p:cNvPr id="7" name="Rectangle 6"/>
          <p:cNvSpPr/>
          <p:nvPr/>
        </p:nvSpPr>
        <p:spPr>
          <a:xfrm>
            <a:off x="6246000" y="1650000"/>
            <a:ext cx="5306000" cy="4400000"/>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000" y="1750000"/>
            <a:ext cx="4906000" cy="600000"/>
          </a:xfrm>
          <a:prstGeom prst="rect">
            <a:avLst/>
          </a:prstGeom>
          <a:noFill/>
        </p:spPr>
        <p:txBody>
          <a:bodyPr wrap="square">
            <a:spAutoFit/>
          </a:bodyPr>
          <a:lstStyle/>
          <a:p>
            <a:pPr>
              <a:spcAft>
                <a:spcPts val="1260"/>
              </a:spcAft>
            </a:pPr>
            <a:r>
              <a:rPr sz="2800" b="1">
                <a:solidFill>
                  <a:srgbClr val="2F6FB5"/>
                </a:solidFill>
                <a:latin typeface="Nunito Sans"/>
              </a:rPr>
              <a:t>哪里做得好</a:t>
            </a:r>
          </a:p>
        </p:txBody>
      </p:sp>
      <p:sp>
        <p:nvSpPr>
          <p:cNvPr id="9" name="TextBox 8"/>
          <p:cNvSpPr txBox="1"/>
          <p:nvPr/>
        </p:nvSpPr>
        <p:spPr>
          <a:xfrm>
            <a:off x="6446000" y="2400000"/>
            <a:ext cx="4906000" cy="3500000"/>
          </a:xfrm>
          <a:prstGeom prst="rect">
            <a:avLst/>
          </a:prstGeom>
          <a:noFill/>
        </p:spPr>
        <p:txBody>
          <a:bodyPr wrap="square">
            <a:spAutoFit/>
          </a:bodyPr>
          <a:lstStyle/>
          <a:p>
            <a:pPr>
              <a:spcAft>
                <a:spcPts val="1170"/>
              </a:spcAft>
            </a:pPr>
            <a:r>
              <a:rPr sz="2600" b="1">
                <a:solidFill>
                  <a:srgbClr val="E8793A"/>
                </a:solidFill>
                <a:latin typeface="Nunito Sans"/>
              </a:rPr>
              <a:t>• </a:t>
            </a:r>
            <a:r>
              <a:rPr sz="2600" b="0">
                <a:solidFill>
                  <a:srgbClr val="1F2A44"/>
                </a:solidFill>
                <a:latin typeface="Nunito Sans"/>
              </a:rPr>
              <a:t>用别的说法解释一件事</a:t>
            </a:r>
          </a:p>
          <a:p>
            <a:pPr>
              <a:spcAft>
                <a:spcPts val="1170"/>
              </a:spcAft>
            </a:pPr>
            <a:r>
              <a:rPr sz="2600" b="1">
                <a:solidFill>
                  <a:srgbClr val="E8793A"/>
                </a:solidFill>
                <a:latin typeface="Nunito Sans"/>
              </a:rPr>
              <a:t>• </a:t>
            </a:r>
            <a:r>
              <a:rPr sz="2600" b="0">
                <a:solidFill>
                  <a:srgbClr val="1F2A44"/>
                </a:solidFill>
                <a:latin typeface="Nunito Sans"/>
              </a:rPr>
              <a:t>做提纲和摘要</a:t>
            </a:r>
          </a:p>
          <a:p>
            <a:pPr>
              <a:spcAft>
                <a:spcPts val="1170"/>
              </a:spcAft>
            </a:pPr>
            <a:r>
              <a:rPr sz="2600" b="1">
                <a:solidFill>
                  <a:srgbClr val="E8793A"/>
                </a:solidFill>
                <a:latin typeface="Nunito Sans"/>
              </a:rPr>
              <a:t>• </a:t>
            </a:r>
            <a:r>
              <a:rPr sz="2600" b="0">
                <a:solidFill>
                  <a:srgbClr val="1F2A44"/>
                </a:solidFill>
                <a:latin typeface="Nunito Sans"/>
              </a:rPr>
              <a:t>给出开头的想法</a:t>
            </a:r>
          </a:p>
          <a:p>
            <a:pPr>
              <a:spcAft>
                <a:spcPts val="1170"/>
              </a:spcAft>
            </a:pPr>
            <a:r>
              <a:rPr sz="2600" b="1">
                <a:solidFill>
                  <a:srgbClr val="E8793A"/>
                </a:solidFill>
                <a:latin typeface="Nunito Sans"/>
              </a:rPr>
              <a:t>• </a:t>
            </a:r>
            <a:r>
              <a:rPr sz="2600" b="0">
                <a:solidFill>
                  <a:srgbClr val="1F2A44"/>
                </a:solidFill>
                <a:latin typeface="Nunito Sans"/>
              </a:rPr>
              <a:t>检查拼写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第1部分 · 它是什么，哪里会出错</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幻觉</a:t>
            </a:r>
          </a:p>
        </p:txBody>
      </p:sp>
      <p:sp>
        <p:nvSpPr>
          <p:cNvPr id="4" name="Rectangle 3"/>
          <p:cNvSpPr/>
          <p:nvPr/>
        </p:nvSpPr>
        <p:spPr>
          <a:xfrm>
            <a:off x="640000" y="1650000"/>
            <a:ext cx="10912000" cy="1150000"/>
          </a:xfrm>
          <a:prstGeom prst="rect">
            <a:avLst/>
          </a:prstGeom>
          <a:solidFill>
            <a:srgbClr val="EA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730000"/>
            <a:ext cx="10512000" cy="1000000"/>
          </a:xfrm>
          <a:prstGeom prst="rect">
            <a:avLst/>
          </a:prstGeom>
          <a:noFill/>
        </p:spPr>
        <p:txBody>
          <a:bodyPr wrap="square" anchor="ctr">
            <a:spAutoFit/>
          </a:bodyPr>
          <a:lstStyle/>
          <a:p>
            <a:pPr>
              <a:spcAft>
                <a:spcPts val="1260"/>
              </a:spcAft>
            </a:pPr>
            <a:r>
              <a:rPr sz="2800" b="1">
                <a:solidFill>
                  <a:srgbClr val="1F2A44"/>
                </a:solidFill>
                <a:latin typeface="Nunito Sans"/>
              </a:rPr>
              <a:t>是指人工智能编造出虚假的内容，却说得好像是真的。</a:t>
            </a:r>
          </a:p>
        </p:txBody>
      </p:sp>
      <p:sp>
        <p:nvSpPr>
          <p:cNvPr id="6" name="TextBox 5"/>
          <p:cNvSpPr txBox="1"/>
          <p:nvPr/>
        </p:nvSpPr>
        <p:spPr>
          <a:xfrm>
            <a:off x="640000" y="3000000"/>
            <a:ext cx="10912000" cy="3458000"/>
          </a:xfrm>
          <a:prstGeom prst="rect">
            <a:avLst/>
          </a:prstGeom>
          <a:noFill/>
        </p:spPr>
        <p:txBody>
          <a:bodyPr wrap="square">
            <a:spAutoFit/>
          </a:bodyPr>
          <a:lstStyle/>
          <a:p>
            <a:pPr>
              <a:spcAft>
                <a:spcPts val="1260"/>
              </a:spcAft>
            </a:pPr>
            <a:r>
              <a:rPr sz="2800" b="1">
                <a:solidFill>
                  <a:srgbClr val="E8793A"/>
                </a:solidFill>
                <a:latin typeface="Nunito Sans"/>
              </a:rPr>
              <a:t>• </a:t>
            </a:r>
            <a:r>
              <a:rPr sz="2800" b="0">
                <a:solidFill>
                  <a:srgbClr val="1F2A44"/>
                </a:solidFill>
                <a:latin typeface="Nunito Sans"/>
              </a:rPr>
              <a:t>它不是故意说谎：它写的是听起来可能的内容</a:t>
            </a:r>
          </a:p>
          <a:p>
            <a:pPr>
              <a:spcAft>
                <a:spcPts val="1260"/>
              </a:spcAft>
            </a:pPr>
            <a:r>
              <a:rPr sz="2800" b="1">
                <a:solidFill>
                  <a:srgbClr val="E8793A"/>
                </a:solidFill>
                <a:latin typeface="Nunito Sans"/>
              </a:rPr>
              <a:t>• </a:t>
            </a:r>
            <a:r>
              <a:rPr sz="2800" b="0">
                <a:solidFill>
                  <a:srgbClr val="1F2A44"/>
                </a:solidFill>
                <a:latin typeface="Nunito Sans"/>
              </a:rPr>
              <a:t>所以它听起来同样有把握</a:t>
            </a:r>
          </a:p>
          <a:p>
            <a:pPr>
              <a:spcAft>
                <a:spcPts val="1260"/>
              </a:spcAft>
            </a:pPr>
            <a:r>
              <a:rPr sz="2800" b="1">
                <a:solidFill>
                  <a:srgbClr val="E8793A"/>
                </a:solidFill>
                <a:latin typeface="Nunito Sans"/>
              </a:rPr>
              <a:t>• </a:t>
            </a:r>
            <a:r>
              <a:rPr sz="2800" b="0">
                <a:solidFill>
                  <a:srgbClr val="1F2A44"/>
                </a:solidFill>
                <a:latin typeface="Nunito Sans"/>
              </a:rPr>
              <a:t>觉得有把握不等于知道（第3课）</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640000" y="2300000"/>
            <a:ext cx="10912000" cy="500000"/>
          </a:xfrm>
          <a:prstGeom prst="rect">
            <a:avLst/>
          </a:prstGeom>
          <a:noFill/>
        </p:spPr>
        <p:txBody>
          <a:bodyPr wrap="square">
            <a:spAutoFit/>
          </a:bodyPr>
          <a:lstStyle/>
          <a:p>
            <a:pPr>
              <a:spcAft>
                <a:spcPts val="810"/>
              </a:spcAft>
            </a:pPr>
            <a:r>
              <a:rPr sz="1800" b="1">
                <a:solidFill>
                  <a:srgbClr val="F4B183"/>
                </a:solidFill>
                <a:latin typeface="Nunito Sans"/>
              </a:rPr>
              <a:t>第2部分</a:t>
            </a:r>
          </a:p>
        </p:txBody>
      </p:sp>
      <p:sp>
        <p:nvSpPr>
          <p:cNvPr id="3" name="TextBox 2"/>
          <p:cNvSpPr txBox="1"/>
          <p:nvPr/>
        </p:nvSpPr>
        <p:spPr>
          <a:xfrm>
            <a:off x="640000" y="2800000"/>
            <a:ext cx="10912000" cy="800000"/>
          </a:xfrm>
          <a:prstGeom prst="rect">
            <a:avLst/>
          </a:prstGeom>
          <a:noFill/>
        </p:spPr>
        <p:txBody>
          <a:bodyPr wrap="square">
            <a:spAutoFit/>
          </a:bodyPr>
          <a:lstStyle/>
          <a:p>
            <a:pPr>
              <a:spcAft>
                <a:spcPts val="2160"/>
              </a:spcAft>
            </a:pPr>
            <a:r>
              <a:rPr sz="4800" b="1">
                <a:solidFill>
                  <a:srgbClr val="FBF7EF"/>
                </a:solidFill>
                <a:latin typeface="Fredoka"/>
              </a:rPr>
              <a:t>怎样核实</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第2部分 · 怎样核实</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四项核实</a:t>
            </a:r>
          </a:p>
        </p:txBody>
      </p:sp>
      <p:sp>
        <p:nvSpPr>
          <p:cNvPr id="4" name="TextBox 3"/>
          <p:cNvSpPr txBox="1"/>
          <p:nvPr/>
        </p:nvSpPr>
        <p:spPr>
          <a:xfrm>
            <a:off x="640000" y="1650000"/>
            <a:ext cx="10912000" cy="4808000"/>
          </a:xfrm>
          <a:prstGeom prst="rect">
            <a:avLst/>
          </a:prstGeom>
          <a:noFill/>
        </p:spPr>
        <p:txBody>
          <a:bodyPr wrap="square">
            <a:spAutoFit/>
          </a:bodyPr>
          <a:lstStyle/>
          <a:p>
            <a:pPr>
              <a:spcAft>
                <a:spcPts val="1260"/>
              </a:spcAft>
            </a:pPr>
            <a:r>
              <a:rPr sz="2800" b="1">
                <a:solidFill>
                  <a:srgbClr val="E8793A"/>
                </a:solidFill>
                <a:latin typeface="Nunito Sans"/>
              </a:rPr>
              <a:t>• </a:t>
            </a:r>
            <a:r>
              <a:rPr sz="2800" b="1">
                <a:solidFill>
                  <a:srgbClr val="1F2A44"/>
                </a:solidFill>
                <a:latin typeface="Nunito Sans"/>
              </a:rPr>
              <a:t>查来源：</a:t>
            </a:r>
            <a:r>
              <a:rPr sz="2800" b="0">
                <a:solidFill>
                  <a:srgbClr val="1F2A44"/>
                </a:solidFill>
                <a:latin typeface="Nunito Sans"/>
              </a:rPr>
              <a:t>这本书、这个链接、这句引文真的存在吗？</a:t>
            </a:r>
          </a:p>
          <a:p>
            <a:pPr>
              <a:spcAft>
                <a:spcPts val="1260"/>
              </a:spcAft>
            </a:pPr>
            <a:r>
              <a:rPr sz="2800" b="1">
                <a:solidFill>
                  <a:srgbClr val="E8793A"/>
                </a:solidFill>
                <a:latin typeface="Nunito Sans"/>
              </a:rPr>
              <a:t>• </a:t>
            </a:r>
            <a:r>
              <a:rPr sz="2800" b="1">
                <a:solidFill>
                  <a:srgbClr val="1F2A44"/>
                </a:solidFill>
                <a:latin typeface="Nunito Sans"/>
              </a:rPr>
              <a:t>横向阅读：</a:t>
            </a:r>
            <a:r>
              <a:rPr sz="2800" b="0">
                <a:solidFill>
                  <a:srgbClr val="1F2A44"/>
                </a:solidFill>
                <a:latin typeface="Nunito Sans"/>
              </a:rPr>
              <a:t>看看其他可靠来源怎么说（第34课）。</a:t>
            </a:r>
          </a:p>
          <a:p>
            <a:pPr>
              <a:spcAft>
                <a:spcPts val="1260"/>
              </a:spcAft>
            </a:pPr>
            <a:r>
              <a:rPr sz="2800" b="1">
                <a:solidFill>
                  <a:srgbClr val="E8793A"/>
                </a:solidFill>
                <a:latin typeface="Nunito Sans"/>
              </a:rPr>
              <a:t>• </a:t>
            </a:r>
            <a:r>
              <a:rPr sz="2800" b="1">
                <a:solidFill>
                  <a:srgbClr val="1F2A44"/>
                </a:solidFill>
                <a:latin typeface="Nunito Sans"/>
              </a:rPr>
              <a:t>数据和日期：</a:t>
            </a:r>
            <a:r>
              <a:rPr sz="2800" b="0">
                <a:solidFill>
                  <a:srgbClr val="1F2A44"/>
                </a:solidFill>
                <a:latin typeface="Nunito Sans"/>
              </a:rPr>
              <a:t>一定要到人工智能之外去核实。</a:t>
            </a:r>
          </a:p>
          <a:p>
            <a:pPr>
              <a:spcAft>
                <a:spcPts val="1260"/>
              </a:spcAft>
            </a:pPr>
            <a:r>
              <a:rPr sz="2800" b="1">
                <a:solidFill>
                  <a:srgbClr val="E8793A"/>
                </a:solidFill>
                <a:latin typeface="Nunito Sans"/>
              </a:rPr>
              <a:t>• </a:t>
            </a:r>
            <a:r>
              <a:rPr sz="2800" b="1">
                <a:solidFill>
                  <a:srgbClr val="1F2A44"/>
                </a:solidFill>
                <a:latin typeface="Nunito Sans"/>
              </a:rPr>
              <a:t>向人工智能要来源</a:t>
            </a:r>
            <a:r>
              <a:rPr sz="2800" b="0">
                <a:solidFill>
                  <a:srgbClr val="1F2A44"/>
                </a:solidFill>
                <a:latin typeface="Nunito Sans"/>
              </a:rPr>
              <a:t>，然后你自己去核实：它也可能把来源编出来。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第2部分 · 怎样核实</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案例1 · 奥马尔的书</a:t>
            </a:r>
          </a:p>
        </p:txBody>
      </p:sp>
      <p:sp>
        <p:nvSpPr>
          <p:cNvPr id="4" name="Rectangle 3"/>
          <p:cNvSpPr/>
          <p:nvPr/>
        </p:nvSpPr>
        <p:spPr>
          <a:xfrm>
            <a:off x="640000" y="1600000"/>
            <a:ext cx="10912000" cy="11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650000"/>
            <a:ext cx="10512000" cy="1000000"/>
          </a:xfrm>
          <a:prstGeom prst="rect">
            <a:avLst/>
          </a:prstGeom>
          <a:noFill/>
        </p:spPr>
        <p:txBody>
          <a:bodyPr wrap="square" anchor="ctr">
            <a:spAutoFit/>
          </a:bodyPr>
          <a:lstStyle/>
          <a:p>
            <a:pPr>
              <a:spcAft>
                <a:spcPts val="1170"/>
              </a:spcAft>
            </a:pPr>
            <a:r>
              <a:rPr sz="2600" b="1">
                <a:solidFill>
                  <a:srgbClr val="1F2A44"/>
                </a:solidFill>
                <a:latin typeface="Nunito Sans"/>
              </a:rPr>
              <a:t>人工智能给奥马尔推荐了三本关于毕尔巴鄂竞技历史的书，有书名、作者和年份。</a:t>
            </a:r>
          </a:p>
        </p:txBody>
      </p:sp>
      <p:sp>
        <p:nvSpPr>
          <p:cNvPr id="6" name="TextBox 5"/>
          <p:cNvSpPr txBox="1"/>
          <p:nvPr/>
        </p:nvSpPr>
        <p:spPr>
          <a:xfrm>
            <a:off x="640000" y="2900000"/>
            <a:ext cx="10912000" cy="3500000"/>
          </a:xfrm>
          <a:prstGeom prst="rect">
            <a:avLst/>
          </a:prstGeom>
          <a:noFill/>
        </p:spPr>
        <p:txBody>
          <a:bodyPr wrap="square">
            <a:spAutoFit/>
          </a:bodyPr>
          <a:lstStyle/>
          <a:p>
            <a:pPr>
              <a:spcAft>
                <a:spcPts val="1080"/>
              </a:spcAft>
            </a:pPr>
            <a:r>
              <a:rPr sz="2400" b="1">
                <a:solidFill>
                  <a:srgbClr val="E8793A"/>
                </a:solidFill>
                <a:latin typeface="Nunito Sans"/>
              </a:rPr>
              <a:t>1. </a:t>
            </a:r>
            <a:r>
              <a:rPr sz="2400" b="0">
                <a:solidFill>
                  <a:srgbClr val="1F2A44"/>
                </a:solidFill>
                <a:latin typeface="Nunito Sans"/>
              </a:rPr>
              <a:t>人工智能给了我什么？三个看起来非常具体的来源。</a:t>
            </a:r>
          </a:p>
          <a:p>
            <a:pPr>
              <a:spcAft>
                <a:spcPts val="1080"/>
              </a:spcAft>
            </a:pPr>
            <a:r>
              <a:rPr sz="2400" b="1">
                <a:solidFill>
                  <a:srgbClr val="E8793A"/>
                </a:solidFill>
                <a:latin typeface="Nunito Sans"/>
              </a:rPr>
              <a:t>2. </a:t>
            </a:r>
            <a:r>
              <a:rPr sz="2400" b="0">
                <a:solidFill>
                  <a:srgbClr val="1F2A44"/>
                </a:solidFill>
                <a:latin typeface="Nunito Sans"/>
              </a:rPr>
              <a:t>我去核实：在图书馆和网上搜每一个书名。</a:t>
            </a:r>
          </a:p>
          <a:p>
            <a:pPr>
              <a:spcAft>
                <a:spcPts val="1080"/>
              </a:spcAft>
            </a:pPr>
            <a:r>
              <a:rPr sz="2400" b="1">
                <a:solidFill>
                  <a:srgbClr val="E8793A"/>
                </a:solidFill>
                <a:latin typeface="Nunito Sans"/>
              </a:rPr>
              <a:t>3. </a:t>
            </a:r>
            <a:r>
              <a:rPr sz="2400" b="0">
                <a:solidFill>
                  <a:srgbClr val="1F2A44"/>
                </a:solidFill>
                <a:latin typeface="Nunito Sans"/>
              </a:rPr>
              <a:t>结果：有两本哪里都找不到。人工智能把它们编出来了。</a:t>
            </a:r>
          </a:p>
          <a:p>
            <a:pPr>
              <a:spcAft>
                <a:spcPts val="1080"/>
              </a:spcAft>
            </a:pPr>
            <a:r>
              <a:rPr sz="2400" b="1">
                <a:solidFill>
                  <a:srgbClr val="E8793A"/>
                </a:solidFill>
                <a:latin typeface="Nunito Sans"/>
              </a:rPr>
              <a:t>4. </a:t>
            </a:r>
            <a:r>
              <a:rPr sz="2400" b="0">
                <a:solidFill>
                  <a:srgbClr val="1F2A44"/>
                </a:solidFill>
                <a:latin typeface="Nunito Sans"/>
              </a:rPr>
              <a:t>结论：人工智能可能编造来源。我只用我核实过的。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第2部分 · 怎样核实</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案例2 · 娜亚拉的光合作用</a:t>
            </a:r>
          </a:p>
        </p:txBody>
      </p:sp>
      <p:sp>
        <p:nvSpPr>
          <p:cNvPr id="4" name="Rectangle 3"/>
          <p:cNvSpPr/>
          <p:nvPr/>
        </p:nvSpPr>
        <p:spPr>
          <a:xfrm>
            <a:off x="640000" y="1600000"/>
            <a:ext cx="10912000" cy="11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650000"/>
            <a:ext cx="10512000" cy="1000000"/>
          </a:xfrm>
          <a:prstGeom prst="rect">
            <a:avLst/>
          </a:prstGeom>
          <a:noFill/>
        </p:spPr>
        <p:txBody>
          <a:bodyPr wrap="square" anchor="ctr">
            <a:spAutoFit/>
          </a:bodyPr>
          <a:lstStyle/>
          <a:p>
            <a:pPr>
              <a:spcAft>
                <a:spcPts val="1170"/>
              </a:spcAft>
            </a:pPr>
            <a:r>
              <a:rPr sz="2600" b="1">
                <a:solidFill>
                  <a:srgbClr val="1F2A44"/>
                </a:solidFill>
                <a:latin typeface="Nunito Sans"/>
              </a:rPr>
              <a:t>娜亚拉不理解光合作用。她让人工智能用简单的话给她解释，然后拿它和自己的生物课本对照。</a:t>
            </a:r>
          </a:p>
        </p:txBody>
      </p:sp>
      <p:sp>
        <p:nvSpPr>
          <p:cNvPr id="6" name="TextBox 5"/>
          <p:cNvSpPr txBox="1"/>
          <p:nvPr/>
        </p:nvSpPr>
        <p:spPr>
          <a:xfrm>
            <a:off x="640000" y="2900000"/>
            <a:ext cx="10912000" cy="3500000"/>
          </a:xfrm>
          <a:prstGeom prst="rect">
            <a:avLst/>
          </a:prstGeom>
          <a:noFill/>
        </p:spPr>
        <p:txBody>
          <a:bodyPr wrap="square">
            <a:spAutoFit/>
          </a:bodyPr>
          <a:lstStyle/>
          <a:p>
            <a:pPr>
              <a:spcAft>
                <a:spcPts val="1080"/>
              </a:spcAft>
            </a:pPr>
            <a:r>
              <a:rPr sz="2400" b="1">
                <a:solidFill>
                  <a:srgbClr val="E8793A"/>
                </a:solidFill>
                <a:latin typeface="Nunito Sans"/>
              </a:rPr>
              <a:t>1. </a:t>
            </a:r>
            <a:r>
              <a:rPr sz="2400" b="0">
                <a:solidFill>
                  <a:srgbClr val="1F2A44"/>
                </a:solidFill>
                <a:latin typeface="Nunito Sans"/>
              </a:rPr>
              <a:t>她用人工智能做什么？为了理解，而不是为了抄。</a:t>
            </a:r>
          </a:p>
          <a:p>
            <a:pPr>
              <a:spcAft>
                <a:spcPts val="1080"/>
              </a:spcAft>
            </a:pPr>
            <a:r>
              <a:rPr sz="2400" b="1">
                <a:solidFill>
                  <a:srgbClr val="E8793A"/>
                </a:solidFill>
                <a:latin typeface="Nunito Sans"/>
              </a:rPr>
              <a:t>2. </a:t>
            </a:r>
            <a:r>
              <a:rPr sz="2400" b="0">
                <a:solidFill>
                  <a:srgbClr val="1F2A44"/>
                </a:solidFill>
                <a:latin typeface="Nunito Sans"/>
              </a:rPr>
              <a:t>她核实了吗？核实了：她拿它和课本对照。</a:t>
            </a:r>
          </a:p>
          <a:p>
            <a:pPr>
              <a:spcAft>
                <a:spcPts val="1080"/>
              </a:spcAft>
            </a:pPr>
            <a:r>
              <a:rPr sz="2400" b="1">
                <a:solidFill>
                  <a:srgbClr val="E8793A"/>
                </a:solidFill>
                <a:latin typeface="Nunito Sans"/>
              </a:rPr>
              <a:t>3. </a:t>
            </a:r>
            <a:r>
              <a:rPr sz="2400" b="0">
                <a:solidFill>
                  <a:srgbClr val="1F2A44"/>
                </a:solidFill>
                <a:latin typeface="Nunito Sans"/>
              </a:rPr>
              <a:t>如果有哪里对不上，她就再回课本里看，并去问老师。</a:t>
            </a:r>
          </a:p>
          <a:p>
            <a:pPr>
              <a:spcAft>
                <a:spcPts val="1080"/>
              </a:spcAft>
            </a:pPr>
            <a:r>
              <a:rPr sz="2400" b="1">
                <a:solidFill>
                  <a:srgbClr val="E8793A"/>
                </a:solidFill>
                <a:latin typeface="Nunito Sans"/>
              </a:rPr>
              <a:t>4. </a:t>
            </a:r>
            <a:r>
              <a:rPr sz="2400" b="0">
                <a:solidFill>
                  <a:srgbClr val="1F2A44"/>
                </a:solidFill>
                <a:latin typeface="Nunito Sans"/>
              </a:rPr>
              <a:t>结论：用得好。人工智能是帮手，她自己的头脑才是法官。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C9A8"/>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1F2A44"/>
                </a:solidFill>
                <a:latin typeface="Nunito Sans"/>
              </a:rPr>
              <a:t>CASO TRAMPA · 第2部分 · 怎样核实</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 这是人工智能说的</a:t>
            </a:r>
          </a:p>
        </p:txBody>
      </p:sp>
      <p:sp>
        <p:nvSpPr>
          <p:cNvPr id="4" name="Rectangle 3"/>
          <p:cNvSpPr/>
          <p:nvPr/>
        </p:nvSpPr>
        <p:spPr>
          <a:xfrm>
            <a:off x="640000" y="1600000"/>
            <a:ext cx="10912000" cy="1100000"/>
          </a:xfrm>
          <a:prstGeom prst="rect">
            <a:avLst/>
          </a:prstGeom>
          <a:solidFill>
            <a:srgbClr val="FB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0000" y="1650000"/>
            <a:ext cx="10512000" cy="1000000"/>
          </a:xfrm>
          <a:prstGeom prst="rect">
            <a:avLst/>
          </a:prstGeom>
          <a:noFill/>
        </p:spPr>
        <p:txBody>
          <a:bodyPr wrap="square" anchor="ctr">
            <a:spAutoFit/>
          </a:bodyPr>
          <a:lstStyle/>
          <a:p>
            <a:pPr>
              <a:spcAft>
                <a:spcPts val="1170"/>
              </a:spcAft>
            </a:pPr>
            <a:r>
              <a:rPr sz="2600" b="1">
                <a:solidFill>
                  <a:srgbClr val="1F2A44"/>
                </a:solidFill>
                <a:latin typeface="Nunito Sans"/>
              </a:rPr>
              <a:t>人工智能告诉陈，毕尔巴鄂古根海姆博物馆于1997年开馆。他的朋友说：“这是人工智能说的，肯定是假的。”</a:t>
            </a:r>
          </a:p>
        </p:txBody>
      </p:sp>
      <p:sp>
        <p:nvSpPr>
          <p:cNvPr id="6" name="TextBox 5"/>
          <p:cNvSpPr txBox="1"/>
          <p:nvPr/>
        </p:nvSpPr>
        <p:spPr>
          <a:xfrm>
            <a:off x="640000" y="2900000"/>
            <a:ext cx="10912000" cy="3500000"/>
          </a:xfrm>
          <a:prstGeom prst="rect">
            <a:avLst/>
          </a:prstGeom>
          <a:noFill/>
        </p:spPr>
        <p:txBody>
          <a:bodyPr wrap="square">
            <a:spAutoFit/>
          </a:bodyPr>
          <a:lstStyle/>
          <a:p>
            <a:pPr>
              <a:spcAft>
                <a:spcPts val="1080"/>
              </a:spcAft>
            </a:pPr>
            <a:r>
              <a:rPr sz="2400" b="1">
                <a:solidFill>
                  <a:srgbClr val="E8793A"/>
                </a:solidFill>
                <a:latin typeface="Nunito Sans"/>
              </a:rPr>
              <a:t>1. </a:t>
            </a:r>
            <a:r>
              <a:rPr sz="2400" b="0">
                <a:solidFill>
                  <a:srgbClr val="1F2A44"/>
                </a:solidFill>
                <a:latin typeface="Nunito Sans"/>
              </a:rPr>
              <a:t>人工智能会编造东西。那这个数据就是假的吗？</a:t>
            </a:r>
          </a:p>
          <a:p>
            <a:pPr>
              <a:spcAft>
                <a:spcPts val="1080"/>
              </a:spcAft>
            </a:pPr>
            <a:r>
              <a:rPr sz="2400" b="1">
                <a:solidFill>
                  <a:srgbClr val="E8793A"/>
                </a:solidFill>
                <a:latin typeface="Nunito Sans"/>
              </a:rPr>
              <a:t>2. </a:t>
            </a:r>
            <a:r>
              <a:rPr sz="2400" b="0">
                <a:solidFill>
                  <a:srgbClr val="1F2A44"/>
                </a:solidFill>
                <a:latin typeface="Nunito Sans"/>
              </a:rPr>
              <a:t>人工智能有时会编造，不是总会。很多时候它是对的。</a:t>
            </a:r>
          </a:p>
          <a:p>
            <a:pPr>
              <a:spcAft>
                <a:spcPts val="1080"/>
              </a:spcAft>
            </a:pPr>
            <a:r>
              <a:rPr sz="2400" b="1">
                <a:solidFill>
                  <a:srgbClr val="E8793A"/>
                </a:solidFill>
                <a:latin typeface="Nunito Sans"/>
              </a:rPr>
              <a:t>3. </a:t>
            </a:r>
            <a:r>
              <a:rPr sz="2400" b="0">
                <a:solidFill>
                  <a:srgbClr val="1F2A44"/>
                </a:solidFill>
                <a:latin typeface="Nunito Sans"/>
              </a:rPr>
              <a:t>陈到博物馆的网站上查：它确实是1997年开馆的。这是真的。</a:t>
            </a:r>
          </a:p>
          <a:p>
            <a:pPr>
              <a:spcAft>
                <a:spcPts val="1080"/>
              </a:spcAft>
            </a:pPr>
            <a:r>
              <a:rPr sz="2400" b="1">
                <a:solidFill>
                  <a:srgbClr val="E8793A"/>
                </a:solidFill>
                <a:latin typeface="Nunito Sans"/>
              </a:rPr>
              <a:t>4. </a:t>
            </a:r>
            <a:r>
              <a:rPr sz="2400" b="0">
                <a:solidFill>
                  <a:srgbClr val="1F2A44"/>
                </a:solidFill>
                <a:latin typeface="Nunito Sans"/>
              </a:rPr>
              <a:t>因为它来自人工智能就否定它，是在评判来源，而不是评判数据（就像第14课那样）。</a:t>
            </a:r>
          </a:p>
          <a:p>
            <a:pPr>
              <a:spcAft>
                <a:spcPts val="1080"/>
              </a:spcAft>
            </a:pPr>
            <a:r>
              <a:rPr sz="2400" b="1">
                <a:solidFill>
                  <a:srgbClr val="E8793A"/>
                </a:solidFill>
                <a:latin typeface="Nunito Sans"/>
              </a:rPr>
              <a:t>5. </a:t>
            </a:r>
            <a:r>
              <a:rPr sz="2400" b="0">
                <a:solidFill>
                  <a:srgbClr val="1F2A44"/>
                </a:solidFill>
                <a:latin typeface="Nunito Sans"/>
              </a:rPr>
              <a:t>结论：一个数据不会因为来自人工智能就是真的或假的。要去核实。</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LO DE HOY EN TRES LÍNEAS</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1F2A44"/>
                </a:solidFill>
                <a:latin typeface="Fredoka"/>
              </a:rPr>
              <a:t>先自己写，不看笔记</a:t>
            </a:r>
          </a:p>
        </p:txBody>
      </p:sp>
      <p:sp>
        <p:nvSpPr>
          <p:cNvPr id="4" name="TextBox 3"/>
          <p:cNvSpPr txBox="1"/>
          <p:nvPr/>
        </p:nvSpPr>
        <p:spPr>
          <a:xfrm>
            <a:off x="640000" y="1800000"/>
            <a:ext cx="10912000" cy="1500000"/>
          </a:xfrm>
          <a:prstGeom prst="rect">
            <a:avLst/>
          </a:prstGeom>
          <a:noFill/>
        </p:spPr>
        <p:txBody>
          <a:bodyPr wrap="square">
            <a:spAutoFit/>
          </a:bodyPr>
          <a:lstStyle/>
          <a:p>
            <a:pPr>
              <a:spcAft>
                <a:spcPts val="1170"/>
              </a:spcAft>
            </a:pPr>
            <a:r>
              <a:rPr sz="2600" b="0">
                <a:solidFill>
                  <a:srgbClr val="4A5568"/>
                </a:solidFill>
                <a:latin typeface="Nunito Sans"/>
              </a:rPr>
              <a:t>两分钟。然后我们一起对照。</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7EF"/>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E8793A"/>
                </a:solidFill>
                <a:latin typeface="Nunito Sans"/>
              </a:rPr>
              <a:t>LO DE HOY EN TRES LÍNEAS</a:t>
            </a:r>
          </a:p>
        </p:txBody>
      </p:sp>
      <p:sp>
        <p:nvSpPr>
          <p:cNvPr id="3" name="TextBox 2"/>
          <p:cNvSpPr txBox="1"/>
          <p:nvPr/>
        </p:nvSpPr>
        <p:spPr>
          <a:xfrm>
            <a:off x="640000" y="1300000"/>
            <a:ext cx="10912000" cy="4800000"/>
          </a:xfrm>
          <a:prstGeom prst="rect">
            <a:avLst/>
          </a:prstGeom>
          <a:noFill/>
        </p:spPr>
        <p:txBody>
          <a:bodyPr wrap="square">
            <a:spAutoFit/>
          </a:bodyPr>
          <a:lstStyle/>
          <a:p>
            <a:pPr>
              <a:spcAft>
                <a:spcPts val="1350"/>
              </a:spcAft>
            </a:pPr>
            <a:r>
              <a:rPr sz="3000" b="1">
                <a:solidFill>
                  <a:srgbClr val="E8793A"/>
                </a:solidFill>
                <a:latin typeface="Nunito Sans"/>
              </a:rPr>
              <a:t>1. </a:t>
            </a:r>
            <a:r>
              <a:rPr sz="3000" b="0">
                <a:solidFill>
                  <a:srgbClr val="1F2A44"/>
                </a:solidFill>
                <a:latin typeface="Nunito Sans"/>
              </a:rPr>
              <a:t>人工智能可以解释、概括、给出想法，而且常常答对，但它可能编造数据和来源。</a:t>
            </a:r>
          </a:p>
          <a:p>
            <a:pPr>
              <a:spcAft>
                <a:spcPts val="1350"/>
              </a:spcAft>
            </a:pPr>
            <a:r>
              <a:rPr sz="3000" b="1">
                <a:solidFill>
                  <a:srgbClr val="E8793A"/>
                </a:solidFill>
                <a:latin typeface="Nunito Sans"/>
              </a:rPr>
              <a:t>2. </a:t>
            </a:r>
            <a:r>
              <a:rPr sz="3000" b="0">
                <a:solidFill>
                  <a:srgbClr val="1F2A44"/>
                </a:solidFill>
                <a:latin typeface="Nunito Sans"/>
              </a:rPr>
              <a:t>即使出错它听起来也很有把握：这叫做幻觉。</a:t>
            </a:r>
          </a:p>
          <a:p>
            <a:pPr>
              <a:spcAft>
                <a:spcPts val="1350"/>
              </a:spcAft>
            </a:pPr>
            <a:r>
              <a:rPr sz="3000" b="1">
                <a:solidFill>
                  <a:srgbClr val="E8793A"/>
                </a:solidFill>
                <a:latin typeface="Nunito Sans"/>
              </a:rPr>
              <a:t>3. </a:t>
            </a:r>
            <a:r>
              <a:rPr sz="3000" b="0">
                <a:solidFill>
                  <a:srgbClr val="1F2A44"/>
                </a:solidFill>
                <a:latin typeface="Nunito Sans"/>
              </a:rPr>
              <a:t>不要不加思考地相信它，也不要不加思考地否定它：去查来源，并做横向阅读。</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640000" y="380000"/>
            <a:ext cx="10912000" cy="420000"/>
          </a:xfrm>
          <a:prstGeom prst="rect">
            <a:avLst/>
          </a:prstGeom>
          <a:noFill/>
        </p:spPr>
        <p:txBody>
          <a:bodyPr wrap="square">
            <a:spAutoFit/>
          </a:bodyPr>
          <a:lstStyle/>
          <a:p>
            <a:pPr>
              <a:spcAft>
                <a:spcPts val="630"/>
              </a:spcAft>
            </a:pPr>
            <a:r>
              <a:rPr sz="1400" b="1">
                <a:solidFill>
                  <a:srgbClr val="F4B183"/>
                </a:solidFill>
                <a:latin typeface="Nunito Sans"/>
              </a:rPr>
              <a:t>AHORA, LA HOJA DEL DÍA</a:t>
            </a:r>
          </a:p>
        </p:txBody>
      </p:sp>
      <p:sp>
        <p:nvSpPr>
          <p:cNvPr id="3" name="TextBox 2"/>
          <p:cNvSpPr txBox="1"/>
          <p:nvPr/>
        </p:nvSpPr>
        <p:spPr>
          <a:xfrm>
            <a:off x="640000" y="760000"/>
            <a:ext cx="10912000" cy="800000"/>
          </a:xfrm>
          <a:prstGeom prst="rect">
            <a:avLst/>
          </a:prstGeom>
          <a:noFill/>
        </p:spPr>
        <p:txBody>
          <a:bodyPr wrap="square">
            <a:spAutoFit/>
          </a:bodyPr>
          <a:lstStyle/>
          <a:p>
            <a:pPr>
              <a:spcAft>
                <a:spcPts val="1710"/>
              </a:spcAft>
            </a:pPr>
            <a:r>
              <a:rPr sz="3800" b="1">
                <a:solidFill>
                  <a:srgbClr val="FBF7EF"/>
                </a:solidFill>
                <a:latin typeface="Fredoka"/>
              </a:rPr>
              <a:t>20 分钟 · 独立完成 · 保持安静</a:t>
            </a:r>
          </a:p>
        </p:txBody>
      </p:sp>
      <p:sp>
        <p:nvSpPr>
          <p:cNvPr id="4" name="Rectangle 3"/>
          <p:cNvSpPr/>
          <p:nvPr/>
        </p:nvSpPr>
        <p:spPr>
          <a:xfrm>
            <a:off x="640000" y="2000000"/>
            <a:ext cx="3504000" cy="1800000"/>
          </a:xfrm>
          <a:prstGeom prst="rect">
            <a:avLst/>
          </a:prstGeom>
          <a:solidFill>
            <a:srgbClr val="FB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0000" y="2100000"/>
            <a:ext cx="3204000" cy="700000"/>
          </a:xfrm>
          <a:prstGeom prst="rect">
            <a:avLst/>
          </a:prstGeom>
          <a:noFill/>
        </p:spPr>
        <p:txBody>
          <a:bodyPr wrap="square">
            <a:spAutoFit/>
          </a:bodyPr>
          <a:lstStyle/>
          <a:p>
            <a:pPr>
              <a:spcAft>
                <a:spcPts val="990"/>
              </a:spcAft>
            </a:pPr>
            <a:r>
              <a:rPr sz="2200" b="1">
                <a:solidFill>
                  <a:srgbClr val="E8793A"/>
                </a:solidFill>
                <a:latin typeface="Nunito Sans"/>
              </a:rPr>
              <a:t>台阶1 · 人人都做</a:t>
            </a:r>
          </a:p>
        </p:txBody>
      </p:sp>
      <p:sp>
        <p:nvSpPr>
          <p:cNvPr id="6" name="TextBox 5"/>
          <p:cNvSpPr txBox="1"/>
          <p:nvPr/>
        </p:nvSpPr>
        <p:spPr>
          <a:xfrm>
            <a:off x="790000" y="2900000"/>
            <a:ext cx="3204000" cy="700000"/>
          </a:xfrm>
          <a:prstGeom prst="rect">
            <a:avLst/>
          </a:prstGeom>
          <a:noFill/>
        </p:spPr>
        <p:txBody>
          <a:bodyPr wrap="square">
            <a:spAutoFit/>
          </a:bodyPr>
          <a:lstStyle/>
          <a:p>
            <a:pPr>
              <a:spcAft>
                <a:spcPts val="900"/>
              </a:spcAft>
            </a:pPr>
            <a:r>
              <a:rPr sz="2000" b="0">
                <a:solidFill>
                  <a:srgbClr val="4A5568"/>
                </a:solidFill>
                <a:latin typeface="Nunito Sans"/>
              </a:rPr>
              <a:t>6 分</a:t>
            </a:r>
          </a:p>
        </p:txBody>
      </p:sp>
      <p:sp>
        <p:nvSpPr>
          <p:cNvPr id="7" name="Rectangle 6"/>
          <p:cNvSpPr/>
          <p:nvPr/>
        </p:nvSpPr>
        <p:spPr>
          <a:xfrm>
            <a:off x="4344000" y="2000000"/>
            <a:ext cx="3504000" cy="1800000"/>
          </a:xfrm>
          <a:prstGeom prst="rect">
            <a:avLst/>
          </a:prstGeom>
          <a:solidFill>
            <a:srgbClr val="FB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000" y="2100000"/>
            <a:ext cx="3204000" cy="700000"/>
          </a:xfrm>
          <a:prstGeom prst="rect">
            <a:avLst/>
          </a:prstGeom>
          <a:noFill/>
        </p:spPr>
        <p:txBody>
          <a:bodyPr wrap="square">
            <a:spAutoFit/>
          </a:bodyPr>
          <a:lstStyle/>
          <a:p>
            <a:pPr>
              <a:spcAft>
                <a:spcPts val="990"/>
              </a:spcAft>
            </a:pPr>
            <a:r>
              <a:rPr sz="2200" b="1">
                <a:solidFill>
                  <a:srgbClr val="E8793A"/>
                </a:solidFill>
                <a:latin typeface="Nunito Sans"/>
              </a:rPr>
              <a:t>台阶2 · 复习</a:t>
            </a:r>
          </a:p>
        </p:txBody>
      </p:sp>
      <p:sp>
        <p:nvSpPr>
          <p:cNvPr id="9" name="TextBox 8"/>
          <p:cNvSpPr txBox="1"/>
          <p:nvPr/>
        </p:nvSpPr>
        <p:spPr>
          <a:xfrm>
            <a:off x="4494000" y="2900000"/>
            <a:ext cx="3204000" cy="700000"/>
          </a:xfrm>
          <a:prstGeom prst="rect">
            <a:avLst/>
          </a:prstGeom>
          <a:noFill/>
        </p:spPr>
        <p:txBody>
          <a:bodyPr wrap="square">
            <a:spAutoFit/>
          </a:bodyPr>
          <a:lstStyle/>
          <a:p>
            <a:pPr>
              <a:spcAft>
                <a:spcPts val="900"/>
              </a:spcAft>
            </a:pPr>
            <a:r>
              <a:rPr sz="2000" b="0">
                <a:solidFill>
                  <a:srgbClr val="4A5568"/>
                </a:solidFill>
                <a:latin typeface="Nunito Sans"/>
              </a:rPr>
              <a:t>2 分</a:t>
            </a:r>
          </a:p>
        </p:txBody>
      </p:sp>
      <p:sp>
        <p:nvSpPr>
          <p:cNvPr id="10" name="Rectangle 9"/>
          <p:cNvSpPr/>
          <p:nvPr/>
        </p:nvSpPr>
        <p:spPr>
          <a:xfrm>
            <a:off x="8048000" y="2000000"/>
            <a:ext cx="3504000" cy="1800000"/>
          </a:xfrm>
          <a:prstGeom prst="rect">
            <a:avLst/>
          </a:prstGeom>
          <a:solidFill>
            <a:srgbClr val="FBF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8000" y="2100000"/>
            <a:ext cx="3204000" cy="700000"/>
          </a:xfrm>
          <a:prstGeom prst="rect">
            <a:avLst/>
          </a:prstGeom>
          <a:noFill/>
        </p:spPr>
        <p:txBody>
          <a:bodyPr wrap="square">
            <a:spAutoFit/>
          </a:bodyPr>
          <a:lstStyle/>
          <a:p>
            <a:pPr>
              <a:spcAft>
                <a:spcPts val="990"/>
              </a:spcAft>
            </a:pPr>
            <a:r>
              <a:rPr sz="2200" b="1">
                <a:solidFill>
                  <a:srgbClr val="E8793A"/>
                </a:solidFill>
                <a:latin typeface="Nunito Sans"/>
              </a:rPr>
              <a:t>台阶3 · 挑战</a:t>
            </a:r>
          </a:p>
        </p:txBody>
      </p:sp>
      <p:sp>
        <p:nvSpPr>
          <p:cNvPr id="12" name="TextBox 11"/>
          <p:cNvSpPr txBox="1"/>
          <p:nvPr/>
        </p:nvSpPr>
        <p:spPr>
          <a:xfrm>
            <a:off x="8198000" y="2900000"/>
            <a:ext cx="3204000" cy="700000"/>
          </a:xfrm>
          <a:prstGeom prst="rect">
            <a:avLst/>
          </a:prstGeom>
          <a:noFill/>
        </p:spPr>
        <p:txBody>
          <a:bodyPr wrap="square">
            <a:spAutoFit/>
          </a:bodyPr>
          <a:lstStyle/>
          <a:p>
            <a:pPr>
              <a:spcAft>
                <a:spcPts val="900"/>
              </a:spcAft>
            </a:pPr>
            <a:r>
              <a:rPr sz="2000" b="0">
                <a:solidFill>
                  <a:srgbClr val="4A5568"/>
                </a:solidFill>
                <a:latin typeface="Nunito Sans"/>
              </a:rPr>
              <a:t>2 分</a:t>
            </a:r>
          </a:p>
        </p:txBody>
      </p:sp>
      <p:sp>
        <p:nvSpPr>
          <p:cNvPr id="13" name="TextBox 12"/>
          <p:cNvSpPr txBox="1"/>
          <p:nvPr/>
        </p:nvSpPr>
        <p:spPr>
          <a:xfrm>
            <a:off x="640000" y="4200000"/>
            <a:ext cx="10912000" cy="1500000"/>
          </a:xfrm>
          <a:prstGeom prst="rect">
            <a:avLst/>
          </a:prstGeom>
          <a:noFill/>
        </p:spPr>
        <p:txBody>
          <a:bodyPr wrap="square">
            <a:spAutoFit/>
          </a:bodyPr>
          <a:lstStyle/>
          <a:p>
            <a:pPr>
              <a:spcAft>
                <a:spcPts val="990"/>
              </a:spcAft>
            </a:pPr>
            <a:r>
              <a:rPr sz="2200" b="0">
                <a:solidFill>
                  <a:srgbClr val="C9D3E6"/>
                </a:solidFill>
                <a:latin typeface="Nunito Sans"/>
              </a:rPr>
              <a:t>第一遍：不看笔记，用圆珠笔写。第二遍：看笔记，换一种颜色。每个答案都标出“确定”或“不确定”。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