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652000" y="380000"/>
            <a:ext cx="9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980"/>
              </a:spcAft>
            </a:pPr>
            <a:r>
              <a:rPr sz="4400" b="0">
                <a:solidFill>
                  <a:srgbClr val="1F2A44"/>
                </a:solidFill>
                <a:latin typeface="Nunito Sans"/>
              </a:rPr>
              <a:t>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05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85"/>
              </a:spcAft>
            </a:pPr>
            <a:r>
              <a:rPr sz="1300" b="1">
                <a:solidFill>
                  <a:srgbClr val="E8793A"/>
                </a:solidFill>
                <a:latin typeface="Nunito Sans"/>
              </a:rPr>
              <a:t>批判性思维 · 第64课 · 第12单元 · 群体与凝聚力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55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50"/>
              </a:spcAft>
            </a:pPr>
            <a:r>
              <a:rPr sz="5000" b="1">
                <a:solidFill>
                  <a:srgbClr val="1F2A44"/>
                </a:solidFill>
                <a:latin typeface="Fredoka"/>
              </a:rPr>
              <a:t>是群体还是一堆人？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4A5568"/>
                </a:solidFill>
                <a:latin typeface="Nunito Sans"/>
              </a:rPr>
              <a:t>一堆人只是碰巧聚在一起的人；群体则有相互往来，有共同目标、规范、角色和一个“我们”。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在你的练习单上写出缺少的词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承认“你说得对”不是输：而是______。  （第63课）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在好的对话中，看的是最好的论证，不是嗓门最______。  （第63课）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“仅限本周”是______的广告手法。  （第59课）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用另一种颜色订正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承认“你说得对”不是输：而是</a:t>
            </a:r>
            <a:r>
              <a:rPr sz="2600" b="1">
                <a:solidFill>
                  <a:srgbClr val="1F2A44"/>
                </a:solidFill>
                <a:latin typeface="Nunito Sans"/>
              </a:rPr>
              <a:t>学习</a:t>
            </a:r>
            <a:r>
              <a:rPr sz="2600" b="0">
                <a:solidFill>
                  <a:srgbClr val="1F2A44"/>
                </a:solidFill>
                <a:latin typeface="Nunito Sans"/>
              </a:rPr>
              <a:t>。  （第63课）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在好的对话中，看的是最好的论证，不是嗓门最</a:t>
            </a:r>
            <a:r>
              <a:rPr sz="2600" b="1">
                <a:solidFill>
                  <a:srgbClr val="1F2A44"/>
                </a:solidFill>
                <a:latin typeface="Nunito Sans"/>
              </a:rPr>
              <a:t>大</a:t>
            </a:r>
            <a:r>
              <a:rPr sz="2600" b="0">
                <a:solidFill>
                  <a:srgbClr val="1F2A44"/>
                </a:solidFill>
                <a:latin typeface="Nunito Sans"/>
              </a:rPr>
              <a:t>。  （第63课）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“仅限本周”是</a:t>
            </a:r>
            <a:r>
              <a:rPr sz="2600" b="1">
                <a:solidFill>
                  <a:srgbClr val="1F2A44"/>
                </a:solidFill>
                <a:latin typeface="Nunito Sans"/>
              </a:rPr>
              <a:t>紧迫感</a:t>
            </a:r>
            <a:r>
              <a:rPr sz="2600" b="0">
                <a:solidFill>
                  <a:srgbClr val="1F2A44"/>
                </a:solidFill>
                <a:latin typeface="Nunito Sans"/>
              </a:rPr>
              <a:t>的广告手法。  （第59课）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PARA EMPEZAR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00" y="1300000"/>
            <a:ext cx="90000" cy="2400000"/>
          </a:xfrm>
          <a:prstGeom prst="rect">
            <a:avLst/>
          </a:prstGeom>
          <a:solidFill>
            <a:srgbClr val="E8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40000" y="1300000"/>
            <a:ext cx="10612000" cy="2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530"/>
              </a:spcAft>
            </a:pPr>
            <a:r>
              <a:rPr sz="3400" b="1">
                <a:solidFill>
                  <a:srgbClr val="1F2A44"/>
                </a:solidFill>
                <a:latin typeface="Nunito Sans"/>
              </a:rPr>
              <a:t>三十个人在阿班多（Abando）等地铁。在毕尔巴鄂的一块场地上，一支足球队在训练。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这两个哪个是群体？是什么让它们不同？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第1部分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群体与一堆人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群体与一堆人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一堆人与群体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一堆人</a:t>
            </a:r>
            <a:r>
              <a:rPr sz="2800" b="1">
                <a:solidFill>
                  <a:srgbClr val="1F2A44"/>
                </a:solidFill>
                <a:latin typeface="Nunito Sans"/>
              </a:rPr>
              <a:t>是处在同一个地方的人。</a:t>
            </a:r>
            <a:r>
              <a:rPr sz="2800" b="1">
                <a:solidFill>
                  <a:srgbClr val="1F2A44"/>
                </a:solidFill>
                <a:latin typeface="Nunito Sans"/>
              </a:rPr>
              <a:t>群体</a:t>
            </a:r>
            <a:r>
              <a:rPr sz="2800" b="1">
                <a:solidFill>
                  <a:srgbClr val="1F2A44"/>
                </a:solidFill>
                <a:latin typeface="Nunito Sans"/>
              </a:rPr>
              <a:t>是相互往来、并且觉得有一个“我们”的人。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地铁站台上的人是一堆人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一支足球队是一个群体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两者之间有不同的程度：不是非此即彼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群体与一堆人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群体的五个特征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650000"/>
            <a:ext cx="10912000" cy="480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相互往来：</a:t>
            </a:r>
            <a:r>
              <a:rPr sz="2800" b="0">
                <a:solidFill>
                  <a:srgbClr val="1F2A44"/>
                </a:solidFill>
                <a:latin typeface="Nunito Sans"/>
              </a:rPr>
              <a:t>互相认识，彼此交谈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共同目标：</a:t>
            </a:r>
            <a:r>
              <a:rPr sz="2800" b="0">
                <a:solidFill>
                  <a:srgbClr val="1F2A44"/>
                </a:solidFill>
                <a:latin typeface="Nunito Sans"/>
              </a:rPr>
              <a:t>想一起实现某件事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规范：</a:t>
            </a:r>
            <a:r>
              <a:rPr sz="2800" b="0">
                <a:solidFill>
                  <a:srgbClr val="1F2A44"/>
                </a:solidFill>
                <a:latin typeface="Nunito Sans"/>
              </a:rPr>
              <a:t>有规则，成文的或不成文的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角色：</a:t>
            </a:r>
            <a:r>
              <a:rPr sz="2800" b="0">
                <a:solidFill>
                  <a:srgbClr val="1F2A44"/>
                </a:solidFill>
                <a:latin typeface="Nunito Sans"/>
              </a:rPr>
              <a:t>每个人有自己的角色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我们：</a:t>
            </a:r>
            <a:r>
              <a:rPr sz="2800" b="0">
                <a:solidFill>
                  <a:srgbClr val="1F2A44"/>
                </a:solidFill>
                <a:latin typeface="Nunito Sans"/>
              </a:rPr>
              <a:t>觉得自己是群体的一部分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群体与一堆人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规范与角色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规范</a:t>
            </a:r>
            <a:r>
              <a:rPr sz="2800" b="1">
                <a:solidFill>
                  <a:srgbClr val="1F2A44"/>
                </a:solidFill>
                <a:latin typeface="Nunito Sans"/>
              </a:rPr>
              <a:t>是群体的规则。</a:t>
            </a:r>
            <a:r>
              <a:rPr sz="2800" b="1">
                <a:solidFill>
                  <a:srgbClr val="1F2A44"/>
                </a:solidFill>
                <a:latin typeface="Nunito Sans"/>
              </a:rPr>
              <a:t>角色</a:t>
            </a:r>
            <a:r>
              <a:rPr sz="2800" b="1">
                <a:solidFill>
                  <a:srgbClr val="1F2A44"/>
                </a:solidFill>
                <a:latin typeface="Nunito Sans"/>
              </a:rPr>
              <a:t>是每个人所担任的角色。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成文的规范：球队的章程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不成文的规范：不来的话要提前告知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角色：队长、守门员、负责安排活动的人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第2部分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已解决的案例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第2部分 · 已解决的案例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案例1 · 公交车站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二十个人在站台上等比斯开巴士（Bizkaibus）。他们已经一起待了十分钟。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他们相互往来吗？没有：几乎都不互相看。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他们有共同目标吗？没有：每个人各去各的地方，即使坐的是同一辆车。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规范、角色、“我们”？他们遵守排队，但没有角色，也没有“我们”。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结论：这是一堆人。公交车一到，每个人就各走各的。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第2部分 · 已解决的案例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案例2 · 一个女孩的朋友圈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一个女孩和五个朋友每周六碰面。另一个女孩负责安排活动。她们有一条规矩：在朋友圈里说的事不能传出去。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她们相互往来吗？是的：互相认识，每周都见面。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有共同目标吗？有：一起玩得开心。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规范和角色？有：一条不成文的规范，另一个女孩担任安排活动的角色。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结论：这是一个群体。而且她们会说“朋友圈的人”：她们觉得有一个“我们”。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第2部分 · 已解决的案例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案例3 · 一个超大的WhatsApp群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一个WhatsApp群里有150个人，他们去了同一场音乐会。他们互不认识，几乎没有人发言。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它叫“群”，但他们相互往来吗？几乎没有。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有共同目标吗？也许是互相发音乐会的照片，仅此而已。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规范、角色、“我们”？几乎没有。没有人觉得自己是什么的一部分。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结论：它更接近一堆人。“群”这个名字并不能让它成为群体。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C9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1F2A44"/>
                </a:solidFill>
                <a:latin typeface="Nunito Sans"/>
              </a:rPr>
              <a:t>CASO TRAMPA · 第2部分 · 已解决的案例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⚠ 从没见过面的战队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一个男孩、一个同学和另外四个人，两年来每天下午一起玩网游。他们从没当面见过面。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如果他们从没在同一个地方待过，他们是一堆人吗？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看起来是这样：他们从没在同一个地方待在一起。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但他们每天都往来，想一起获胜，有规范和角色：那个同学是负责治疗的。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而且他们说“我们的战队”：他们觉得有一个“我们”。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5.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结论：他们是一个群体。构成群体的不是地点，而是相互往来和感觉到一个“我们”。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先自己写，不看笔记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两分钟。然后我们一起对照。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300000"/>
            <a:ext cx="10912000" cy="4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一堆人是处在同一个地方的人；群体则相互往来，并觉得有一个“我们”。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群体还有共同目标、规范和角色。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待在同一个地方不足以成为群体，也并非必须待在同一个地方。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AHORA, LA HOJA DEL DÍA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FBF7EF"/>
                </a:solidFill>
                <a:latin typeface="Fredoka"/>
              </a:rPr>
              <a:t>20 分钟 · 独立完成 · 保持安静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0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台阶1 · 人人都做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6 分</a:t>
            </a:r>
          </a:p>
        </p:txBody>
      </p:sp>
      <p:sp>
        <p:nvSpPr>
          <p:cNvPr id="7" name="Rectangle 6"/>
          <p:cNvSpPr/>
          <p:nvPr/>
        </p:nvSpPr>
        <p:spPr>
          <a:xfrm>
            <a:off x="4344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94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台阶2 · 复习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4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分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8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98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台阶3 · 挑战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98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00" y="42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C9D3E6"/>
                </a:solidFill>
                <a:latin typeface="Nunito Sans"/>
              </a:rPr>
              <a:t>第一遍：不看笔记，用圆珠笔写。第二遍：看笔记，换一种颜色。每个答案都标出“确定”或“不确定”。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