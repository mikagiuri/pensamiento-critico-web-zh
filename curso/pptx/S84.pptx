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52000" y="380000"/>
            <a:ext cx="9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980"/>
              </a:spcAft>
            </a:pPr>
            <a:r>
              <a:rPr sz="4400" b="0">
                <a:solidFill>
                  <a:srgbClr val="1F2A44"/>
                </a:solidFill>
                <a:latin typeface="Nunito Sans"/>
              </a:rPr>
              <a:t>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05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85"/>
              </a:spcAft>
            </a:pPr>
            <a:r>
              <a:rPr sz="1300" b="1">
                <a:solidFill>
                  <a:srgbClr val="E8793A"/>
                </a:solidFill>
                <a:latin typeface="Nunito Sans"/>
              </a:rPr>
              <a:t>批判性思维 · 第84课 · 第19单元 · 全球本土化：文化与移民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55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50"/>
              </a:spcAft>
            </a:pPr>
            <a:r>
              <a:rPr sz="5000" b="1">
                <a:solidFill>
                  <a:srgbClr val="1F2A44"/>
                </a:solidFill>
                <a:latin typeface="Fredoka"/>
              </a:rPr>
              <a:t>什么是文化？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4A5568"/>
                </a:solidFill>
                <a:latin typeface="Nunito Sans"/>
              </a:rPr>
              <a:t>文化是一个群体学来并共同拥有的生活方式；尊重它，并不等于必须接受伤害人的东西。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在你的练习单上写出缺少的词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______取向是指一个人对谁产生吸引和爱。  （第83课）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关系中的同意可以这样概括：只有说“______”才算同意。  （第83课）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浪漫爱情的______是指一种被当作真的、其实是假的或夸大的爱情观念。  （第79课）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用另一种颜色订正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性</a:t>
            </a:r>
            <a:r>
              <a:rPr sz="2600" b="0">
                <a:solidFill>
                  <a:srgbClr val="1F2A44"/>
                </a:solidFill>
                <a:latin typeface="Nunito Sans"/>
              </a:rPr>
              <a:t>取向是指一个人对谁产生吸引和爱。  （第83课）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关系中的同意可以这样概括：只有说“</a:t>
            </a:r>
            <a:r>
              <a:rPr sz="2600" b="1">
                <a:solidFill>
                  <a:srgbClr val="1F2A44"/>
                </a:solidFill>
                <a:latin typeface="Nunito Sans"/>
              </a:rPr>
              <a:t>是</a:t>
            </a:r>
            <a:r>
              <a:rPr sz="2600" b="0">
                <a:solidFill>
                  <a:srgbClr val="1F2A44"/>
                </a:solidFill>
                <a:latin typeface="Nunito Sans"/>
              </a:rPr>
              <a:t>”才算同意。  （第83课）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浪漫爱情的</a:t>
            </a:r>
            <a:r>
              <a:rPr sz="2600" b="1">
                <a:solidFill>
                  <a:srgbClr val="1F2A44"/>
                </a:solidFill>
                <a:latin typeface="Nunito Sans"/>
              </a:rPr>
              <a:t>神话</a:t>
            </a:r>
            <a:r>
              <a:rPr sz="2600" b="0">
                <a:solidFill>
                  <a:srgbClr val="1F2A44"/>
                </a:solidFill>
                <a:latin typeface="Nunito Sans"/>
              </a:rPr>
              <a:t>是指一种被当作真的、其实是假的或夸大的爱情观念。  （第79课）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PARA EMPEZAR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00" y="1300000"/>
            <a:ext cx="90000" cy="2400000"/>
          </a:xfrm>
          <a:prstGeom prst="rect">
            <a:avLst/>
          </a:prstGeom>
          <a:solidFill>
            <a:srgbClr val="E87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40000" y="1300000"/>
            <a:ext cx="10612000" cy="2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530"/>
              </a:spcAft>
            </a:pPr>
            <a:r>
              <a:rPr sz="3400" b="1">
                <a:solidFill>
                  <a:srgbClr val="1F2A44"/>
                </a:solidFill>
                <a:latin typeface="Nunito Sans"/>
              </a:rPr>
              <a:t>在一个男孩的家里，大家进门都脱鞋。在一个同学家里，谁都不脱。第一次去这个男孩家时，这个同学站在门口愣住了。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这两家，哪一家做得对？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第1部分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什么是文化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第1部分 · 什么是文化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文化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10912000" cy="115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3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1F2A44"/>
                </a:solidFill>
                <a:latin typeface="Nunito Sans"/>
              </a:rPr>
              <a:t>是一个群体学来、共同拥有并传给后来人的生活方式。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3000000"/>
            <a:ext cx="10912000" cy="3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它是</a:t>
            </a:r>
            <a:r>
              <a:rPr sz="2800" b="1">
                <a:solidFill>
                  <a:srgbClr val="1F2A44"/>
                </a:solidFill>
                <a:latin typeface="Nunito Sans"/>
              </a:rPr>
              <a:t>学来的</a:t>
            </a:r>
            <a:r>
              <a:rPr sz="2800" b="0">
                <a:solidFill>
                  <a:srgbClr val="1F2A44"/>
                </a:solidFill>
                <a:latin typeface="Nunito Sans"/>
              </a:rPr>
              <a:t>：不是基因里带的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所有人类群体都有文化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有很多种</a:t>
            </a:r>
            <a:r>
              <a:rPr sz="2800" b="1">
                <a:solidFill>
                  <a:srgbClr val="1F2A44"/>
                </a:solidFill>
                <a:latin typeface="Nunito Sans"/>
              </a:rPr>
              <a:t>文化</a:t>
            </a:r>
            <a:r>
              <a:rPr sz="2800" b="0">
                <a:solidFill>
                  <a:srgbClr val="1F2A44"/>
                </a:solidFill>
                <a:latin typeface="Nunito Sans"/>
              </a:rPr>
              <a:t>，而且会随时间变化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一个人可以同时生活在</a:t>
            </a:r>
            <a:r>
              <a:rPr sz="2800" b="1">
                <a:solidFill>
                  <a:srgbClr val="1F2A44"/>
                </a:solidFill>
                <a:latin typeface="Nunito Sans"/>
              </a:rPr>
              <a:t>多种</a:t>
            </a:r>
            <a:r>
              <a:rPr sz="2800" b="0">
                <a:solidFill>
                  <a:srgbClr val="1F2A44"/>
                </a:solidFill>
                <a:latin typeface="Nunito Sans"/>
              </a:rPr>
              <a:t>文化中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第1部分 · 什么是文化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文化的组成部分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00" y="1700000"/>
          <a:ext cx="10912000" cy="30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56000"/>
                <a:gridCol w="5456000"/>
              </a:tblGrid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组成部分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你身边的例子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习俗</a:t>
                      </a:r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和习惯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吃饭的时间、像 Aste Nagusia（毕尔巴鄂大周）这样的节日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信仰</a:t>
                      </a:r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和价值观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被认为重要的东西、宗教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语言</a:t>
                      </a:r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和艺术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巴斯克语、西班牙语、即兴诗（bertso）、歌曲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物品</a:t>
                      </a:r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和交往方式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贝雷帽（txapela）；打招呼时亲一下或亲两下脸颊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第1部分 · 什么是文化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面对文化多样性的三种立场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00" y="1700000"/>
          <a:ext cx="10912000" cy="24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37333"/>
                <a:gridCol w="3637333"/>
                <a:gridCol w="3637334"/>
              </a:tblGrid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立场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说什么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问题或界限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民族中心主义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我的文化是衡量所有文化的尺子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把只是不同的东西叫作“奇怪”或“不好”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文化相对主义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每种习俗要放在它自己的文化里去理解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推到极端，就什么都不能批评了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跨文化主义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尊重、对话，以及人人享有的人权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需要努力：了解对方，并给出理由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第2部分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已解决的案例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第2部分 · 已解决的案例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案例1 · 下午六点吃晚饭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一个女孩和家人去另一个国家旅行。那里的人下午六点吃晚饭。她爸爸评论说：“这些人真奇怪，这个点吃晚饭不正常。”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爸爸用自己的习惯去衡量别人的习惯：在巴斯克地区晚饭吃得晚。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对他们来说，奇怪的是我们：我们九点或十点才吃晚饭。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没有人会因为几点吃晚饭而受到伤害。这只是一种差异。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结论：这是民族中心主义。仅仅因为不是自己的习惯，就把不同的东西判断为奇怪。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第2部分 · 已解决的案例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案例2 · 门口的鞋子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回到一开始的案例：在那个男孩的家里进门要脱鞋；在那个同学家里不用。哪一家做得对？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这两家里有谁受到了伤害吗？没有。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每种习俗都有它的理由：清洁、舒适、尊重家。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合理的做法是去做客时留心观察并入乡随俗。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结论：没有哪一种更好。这是差异，不是错误。在这里，文化相对主义是适用的。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C9A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1F2A44"/>
                </a:solidFill>
                <a:latin typeface="Nunito Sans"/>
              </a:rPr>
              <a:t>CASO TRAMPA · 第2部分 · 已解决的案例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⚠ “这是我们的传统”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在一个虚构的俱乐部里，新人第一天要被当众羞辱。老成员说：“这是我们的传统。如果你不尊重它，就是不尊重我们的文化。”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这是这个群体的习俗。必须尊重它吗？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看起来是这样：我们说过，不同的习俗是要尊重的。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但这里有人受到了伤害：新人被羞辱了。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尊重习俗是有界限的：每个人的尊严和人权。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5.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结论：某件事是传统，并不能让它变好。我们可以带着理由去批评它。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第3部分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典型的错误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第3部分 · 典型的错误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尊重一种文化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5306000" cy="4400000"/>
          </a:xfrm>
          <a:prstGeom prst="rect">
            <a:avLst/>
          </a:prstGeom>
          <a:solidFill>
            <a:srgbClr val="FBE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50000"/>
            <a:ext cx="4906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C2531C"/>
                </a:solidFill>
                <a:latin typeface="Nunito Sans"/>
              </a:rPr>
              <a:t>不是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0000" y="2400000"/>
            <a:ext cx="4906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因为“这是他们的文化”就接受任何事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认为一个国家的所有人都一样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把我不了解的东西叫作“奇怪”</a:t>
            </a:r>
          </a:p>
        </p:txBody>
      </p:sp>
      <p:sp>
        <p:nvSpPr>
          <p:cNvPr id="7" name="Rectangle 6"/>
          <p:cNvSpPr/>
          <p:nvPr/>
        </p:nvSpPr>
        <p:spPr>
          <a:xfrm>
            <a:off x="6246000" y="1650000"/>
            <a:ext cx="5306000" cy="440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000" y="1750000"/>
            <a:ext cx="4906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2F6FB5"/>
                </a:solidFill>
                <a:latin typeface="Nunito Sans"/>
              </a:rPr>
              <a:t>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000" y="2400000"/>
            <a:ext cx="4906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先努力理解，再下判断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看到每一个人，而不只是他的出身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带着理由批评伤害别人的东西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先自己写，不看笔记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两分钟。然后我们一起对照。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300000"/>
            <a:ext cx="10912000" cy="4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文化是一个群体学来、共同拥有并传给他人的生活方式。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民族中心主义用自己的文化去衡量其他文化，把不同的东西叫作奇怪。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尊重习俗是有界限的：每个人的人权。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F4B183"/>
                </a:solidFill>
                <a:latin typeface="Nunito Sans"/>
              </a:rPr>
              <a:t>AHORA, LA HOJA DEL DÍA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FBF7EF"/>
                </a:solidFill>
                <a:latin typeface="Fredoka"/>
              </a:rPr>
              <a:t>20 分钟 · 独立完成 · 保持安静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0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台阶1 · 人人都做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0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6 分</a:t>
            </a:r>
          </a:p>
        </p:txBody>
      </p:sp>
      <p:sp>
        <p:nvSpPr>
          <p:cNvPr id="7" name="Rectangle 6"/>
          <p:cNvSpPr/>
          <p:nvPr/>
        </p:nvSpPr>
        <p:spPr>
          <a:xfrm>
            <a:off x="4344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94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台阶2 · 复习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94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分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48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98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台阶3 · 挑战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98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00" y="42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0">
                <a:solidFill>
                  <a:srgbClr val="C9D3E6"/>
                </a:solidFill>
                <a:latin typeface="Nunito Sans"/>
              </a:rPr>
              <a:t>第一遍：不看笔记，用圆珠笔写。第二遍：看笔记，换一种颜色。每个答案都标出“确定”或“不确定”。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