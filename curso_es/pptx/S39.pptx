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652000" y="380000"/>
            <a:ext cx="900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980"/>
              </a:spcAft>
            </a:pPr>
            <a:r>
              <a:rPr sz="4400" b="0">
                <a:solidFill>
                  <a:srgbClr val="1F2A44"/>
                </a:solidFill>
                <a:latin typeface="Nunito Sans"/>
              </a:rPr>
              <a:t>🙃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105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85"/>
              </a:spcAft>
            </a:pPr>
            <a:r>
              <a:rPr sz="1300" b="1">
                <a:solidFill>
                  <a:srgbClr val="E8793A"/>
                </a:solidFill>
                <a:latin typeface="Nunito Sans"/>
              </a:rPr>
              <a:t>PENSAMIENTO CRÍTICO · SESIÓN 39 · UNIDAD 7 · NÚMEROS QUE ENGAÑAN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55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250"/>
              </a:spcAft>
            </a:pPr>
            <a:r>
              <a:rPr sz="5000" b="1">
                <a:solidFill>
                  <a:srgbClr val="1F2A44"/>
                </a:solidFill>
                <a:latin typeface="Fredoka"/>
              </a:rPr>
              <a:t>Encuestas y muestras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00" y="4300000"/>
            <a:ext cx="10912000" cy="1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0">
                <a:solidFill>
                  <a:srgbClr val="4A5568"/>
                </a:solidFill>
                <a:latin typeface="Nunito Sans"/>
              </a:rPr>
              <a:t>Una encuesta es más fiable si la muestra se parece a la población; muchas respuestas no arreglan una muestra sesgada.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ANTES DE EMPEZAR · SIN MIRAR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40"/>
              </a:spcAft>
            </a:pPr>
            <a:r>
              <a:rPr sz="3200" b="1">
                <a:solidFill>
                  <a:srgbClr val="1F2A44"/>
                </a:solidFill>
                <a:latin typeface="Fredoka"/>
              </a:rPr>
              <a:t>Escribe en tu hoja las palabras que faltan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800000"/>
            <a:ext cx="10912000" cy="4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Un gráfico también engaña por lo que deja ______.  (sesión 38)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En un gráfico de barras, lo normal es que el eje vertical empiece en ______.  (sesión 38)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Fiarse de un experto de ______, en su campo, no es falacia de autoridad.  (sesión 27)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ANTES DE EMPEZAR · SIN MIRAR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40"/>
              </a:spcAft>
            </a:pPr>
            <a:r>
              <a:rPr sz="3200" b="1">
                <a:solidFill>
                  <a:srgbClr val="1F2A44"/>
                </a:solidFill>
                <a:latin typeface="Fredoka"/>
              </a:rPr>
              <a:t>Corrige con otro color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800000"/>
            <a:ext cx="10912000" cy="4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Un gráfico también engaña por lo que deja </a:t>
            </a:r>
            <a:r>
              <a:rPr sz="2600" b="1">
                <a:solidFill>
                  <a:srgbClr val="1F2A44"/>
                </a:solidFill>
                <a:latin typeface="Nunito Sans"/>
              </a:rPr>
              <a:t>fuera</a:t>
            </a:r>
            <a:r>
              <a:rPr sz="2600" b="0">
                <a:solidFill>
                  <a:srgbClr val="1F2A44"/>
                </a:solidFill>
                <a:latin typeface="Nunito Sans"/>
              </a:rPr>
              <a:t>.  (sesión 38)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En un gráfico de barras, lo normal es que el eje vertical empiece en </a:t>
            </a:r>
            <a:r>
              <a:rPr sz="2600" b="1">
                <a:solidFill>
                  <a:srgbClr val="1F2A44"/>
                </a:solidFill>
                <a:latin typeface="Nunito Sans"/>
              </a:rPr>
              <a:t>0</a:t>
            </a:r>
            <a:r>
              <a:rPr sz="2600" b="0">
                <a:solidFill>
                  <a:srgbClr val="1F2A44"/>
                </a:solidFill>
                <a:latin typeface="Nunito Sans"/>
              </a:rPr>
              <a:t>.  (sesión 38)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Fiarse de un experto de </a:t>
            </a:r>
            <a:r>
              <a:rPr sz="2600" b="1">
                <a:solidFill>
                  <a:srgbClr val="1F2A44"/>
                </a:solidFill>
                <a:latin typeface="Nunito Sans"/>
              </a:rPr>
              <a:t>verdad</a:t>
            </a:r>
            <a:r>
              <a:rPr sz="2600" b="0">
                <a:solidFill>
                  <a:srgbClr val="1F2A44"/>
                </a:solidFill>
                <a:latin typeface="Nunito Sans"/>
              </a:rPr>
              <a:t>, en su campo, no es falacia de autoridad.  (sesión 27)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PARA EMPEZAR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00" y="1300000"/>
            <a:ext cx="90000" cy="2400000"/>
          </a:xfrm>
          <a:prstGeom prst="rect">
            <a:avLst/>
          </a:prstGeom>
          <a:solidFill>
            <a:srgbClr val="E87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40000" y="1300000"/>
            <a:ext cx="10612000" cy="26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530"/>
              </a:spcAft>
            </a:pPr>
            <a:r>
              <a:rPr sz="3400" b="1">
                <a:solidFill>
                  <a:srgbClr val="1F2A44"/>
                </a:solidFill>
                <a:latin typeface="Nunito Sans"/>
              </a:rPr>
              <a:t>Una youtuber de videojuegos pregunta a sus seguidores: «¿Te gustan los videojuegos?». El 95 % dice que sí.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00" y="4300000"/>
            <a:ext cx="10912000" cy="1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0">
                <a:solidFill>
                  <a:srgbClr val="4A5568"/>
                </a:solidFill>
                <a:latin typeface="Nunito Sans"/>
              </a:rPr>
              <a:t>¿Significa eso que al 95 % de los jóvenes les gustan los videojuegos?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2300000"/>
            <a:ext cx="10912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10"/>
              </a:spcAft>
            </a:pPr>
            <a:r>
              <a:rPr sz="1800" b="1">
                <a:solidFill>
                  <a:srgbClr val="F4B183"/>
                </a:solidFill>
                <a:latin typeface="Nunito Sans"/>
              </a:rPr>
              <a:t>BLOQUE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280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160"/>
              </a:spcAft>
            </a:pPr>
            <a:r>
              <a:rPr sz="4800" b="1">
                <a:solidFill>
                  <a:srgbClr val="FBF7EF"/>
                </a:solidFill>
                <a:latin typeface="Fredoka"/>
              </a:rPr>
              <a:t>Qué es una muestra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1 · QUÉ ES UNA MUESTRA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Muestra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50000"/>
            <a:ext cx="10912000" cy="1150000"/>
          </a:xfrm>
          <a:prstGeom prst="rect">
            <a:avLst/>
          </a:prstGeom>
          <a:solidFill>
            <a:srgbClr val="EAF0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73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1F2A44"/>
                </a:solidFill>
                <a:latin typeface="Nunito Sans"/>
              </a:rPr>
              <a:t>Una muestra es el grupo de personas a las que se pregunta, para sacar conclusiones sobre un grupo mayor.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3000000"/>
            <a:ext cx="10912000" cy="345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Población:</a:t>
            </a:r>
            <a:r>
              <a:rPr sz="2800" b="0">
                <a:solidFill>
                  <a:srgbClr val="1F2A44"/>
                </a:solidFill>
                <a:latin typeface="Nunito Sans"/>
              </a:rPr>
              <a:t> todo el grupo del que se habla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Muestra:</a:t>
            </a:r>
            <a:r>
              <a:rPr sz="2800" b="0">
                <a:solidFill>
                  <a:srgbClr val="1F2A44"/>
                </a:solidFill>
                <a:latin typeface="Nunito Sans"/>
              </a:rPr>
              <a:t> la parte a la que se pregunta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Como probar una cucharada para saber cómo está la sopa (bien removida)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Al azar:</a:t>
            </a:r>
            <a:r>
              <a:rPr sz="2800" b="0">
                <a:solidFill>
                  <a:srgbClr val="1F2A44"/>
                </a:solidFill>
                <a:latin typeface="Nunito Sans"/>
              </a:rPr>
              <a:t> por sorteo, sin elegir a quién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1 · QUÉ ES UNA MUESTRA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Tres preguntas a una encuesta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650000"/>
            <a:ext cx="10912000" cy="480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¿A cuántos?</a:t>
            </a:r>
            <a:r>
              <a:rPr sz="2800" b="0">
                <a:solidFill>
                  <a:srgbClr val="1F2A44"/>
                </a:solidFill>
                <a:latin typeface="Nunito Sans"/>
              </a:rPr>
              <a:t> Con 5 personas se puede decir muy poco de miles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¿A quiénes?</a:t>
            </a:r>
            <a:r>
              <a:rPr sz="2800" b="0">
                <a:solidFill>
                  <a:srgbClr val="1F2A44"/>
                </a:solidFill>
                <a:latin typeface="Nunito Sans"/>
              </a:rPr>
              <a:t> La muestra tiene que parecerse a la población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¿Cómo se preguntó?</a:t>
            </a:r>
            <a:r>
              <a:rPr sz="2800" b="0">
                <a:solidFill>
                  <a:srgbClr val="1F2A44"/>
                </a:solidFill>
                <a:latin typeface="Nunito Sans"/>
              </a:rPr>
              <a:t> La pregunta también puede empujar la respuesta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Una muestra que no se parece está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sesgada</a:t>
            </a:r>
            <a:r>
              <a:rPr sz="2800" b="0">
                <a:solidFill>
                  <a:srgbClr val="1F2A44"/>
                </a:solidFill>
                <a:latin typeface="Nunito Sans"/>
              </a:rPr>
              <a:t>: torcida, inclinada hacia un lado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1 · QUÉ ES UNA MUESTRA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Muestras malas y mejores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00" y="1700000"/>
          <a:ext cx="10912000" cy="24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37333"/>
                <a:gridCol w="3637333"/>
                <a:gridCol w="3637334"/>
              </a:tblGrid>
              <a:tr h="600000"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FBF7EF"/>
                          </a:solidFill>
                          <a:latin typeface="Fredoka"/>
                        </a:rPr>
                        <a:t>Quiero saber…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FBF7EF"/>
                          </a:solidFill>
                          <a:latin typeface="Fredoka"/>
                        </a:rPr>
                        <a:t>Muestra mala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FBF7EF"/>
                          </a:solidFill>
                          <a:latin typeface="Fredoka"/>
                        </a:rPr>
                        <a:t>Muestra mejor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</a:tr>
              <a:tr h="600000"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Qué deporte prefiere el alumnado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Solo el equipo de fútbol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Alumnos al azar de todos los cursos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00000"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Si gusta el comedor</a:t>
                      </a:r>
                    </a:p>
                  </a:txBody>
                  <a:tcPr>
                    <a:solidFill>
                      <a:srgbClr val="EAF0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Los 3 amigos de un chico</a:t>
                      </a:r>
                    </a:p>
                  </a:txBody>
                  <a:tcPr>
                    <a:solidFill>
                      <a:srgbClr val="EAF0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100 alumnos elegidos al azar</a:t>
                      </a:r>
                    </a:p>
                  </a:txBody>
                  <a:tcPr>
                    <a:solidFill>
                      <a:srgbClr val="EAF0F7"/>
                    </a:solidFill>
                  </a:tcPr>
                </a:tc>
              </a:tr>
              <a:tr h="600000"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Cuánto usan el móvil en 2.º ESO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Solo quien contesta en Instagram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Todos los grupos de 2.º, encuesta anónima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2300000"/>
            <a:ext cx="10912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10"/>
              </a:spcAft>
            </a:pPr>
            <a:r>
              <a:rPr sz="1800" b="1">
                <a:solidFill>
                  <a:srgbClr val="F4B183"/>
                </a:solidFill>
                <a:latin typeface="Nunito Sans"/>
              </a:rPr>
              <a:t>BLOQUE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280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160"/>
              </a:spcAft>
            </a:pPr>
            <a:r>
              <a:rPr sz="4800" b="1">
                <a:solidFill>
                  <a:srgbClr val="FBF7EF"/>
                </a:solidFill>
                <a:latin typeface="Fredoka"/>
              </a:rPr>
              <a:t>Casos resueltos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2 · CASOS RESUELTOS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Caso 1 · La encuesta del principio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00000"/>
            <a:ext cx="10912000" cy="11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65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1F2A44"/>
                </a:solidFill>
                <a:latin typeface="Nunito Sans"/>
              </a:rPr>
              <a:t>Una youtuber de videojuegos pregunta a sus seguidores si les gustan los videojuegos. El 95 % dice que sí.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2900000"/>
            <a:ext cx="10912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¿A quiénes preguntó? A sus seguidores: gente que ya ve vídeos de videojuegos.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¿Se parecen a todos los jóvenes? No: quien no juega no la sigue.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La muestra está sesgada: se inclina hacia un lado.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4.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Conclusión: el 95 % habla de sus seguidores, no de todos los jóvenes.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2 · CASOS RESUELTOS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Caso 2 · «9 de cada 10»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00000"/>
            <a:ext cx="10912000" cy="11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65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1F2A44"/>
                </a:solidFill>
                <a:latin typeface="Nunito Sans"/>
              </a:rPr>
              <a:t>Anuncio: «9 de cada 10 usuarios recomiendan nuestras zapatillas». En letra pequeña: «Encuesta a 10 clientes de nuestra tienda». (Ejemplo inventado.)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2900000"/>
            <a:ext cx="10912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¿A cuántos? Solo a 10 personas.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¿A quiénes? A clientes que ya las compraron en su tienda.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Muestra pequeña y sesgada: quien las compró ya tenía buena opinión de ellas.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4.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Conclusión: «9 de cada 10» suena a mucho, pero son 9 personas elegidas por la marca.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BLOQUE 2 · CASOS RESUELTOS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Caso 3 · La pregunta que empuja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00000"/>
            <a:ext cx="10912000" cy="11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65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1F2A44"/>
                </a:solidFill>
                <a:latin typeface="Nunito Sans"/>
              </a:rPr>
              <a:t>Encuesta del instituto (inventada): «¿Estás de acuerdo en que el recreo es demasiado corto y hay que alargarlo?»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2900000"/>
            <a:ext cx="10912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La pregunta ya dice lo que piensa quien pregunta: «demasiado corto».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Empuja a contestar que sí.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Una pregunta neutral sería: «¿Qué te parece la duración del recreo?»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4.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Conclusión: además de a quién se pregunta, importa cómo se pregunta. Lo vimos en la sesión 4.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C9A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1F2A44"/>
                </a:solidFill>
                <a:latin typeface="Nunito Sans"/>
              </a:rPr>
              <a:t>CASO TRAMPA · BLOQUE 2 · CASOS RESUELTOS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⚠ Dos millones de respuestas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00000"/>
            <a:ext cx="10912000" cy="1100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65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1F2A44"/>
                </a:solidFill>
                <a:latin typeface="Nunito Sans"/>
              </a:rPr>
              <a:t>EE. UU., 1936. Una revista recibe más de dos millones de respuestas sobre quién ganará las elecciones. Otra encuesta pregunta a muchas menos personas, elegidas para parecerse al país.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2900000"/>
            <a:ext cx="10912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¿Cuál acertó? La de dos millones, ¿no?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No: la revista falló por mucho. Quienes le contestaron no se parecían al conjunto de votantes.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La encuesta pequeña acertó el ganador: su muestra se parecía más al país.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4.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Más respuestas no arreglan una muestra sesgada: repiten el mismo error muchas más veces.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5.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Conclusión: primero, ¿a quiénes?; luego, ¿a cuántos? Una muestra grande pero sesgada sigue fallando.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LO DE HOY EN TRES LÍNEAS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Escríbelo tú primero, sin mirar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800000"/>
            <a:ext cx="10912000" cy="1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0">
                <a:solidFill>
                  <a:srgbClr val="4A5568"/>
                </a:solidFill>
                <a:latin typeface="Nunito Sans"/>
              </a:rPr>
              <a:t>Dos minutos. Después lo comparamos.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LO DE HOY EN TRES LÍNEAS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1300000"/>
            <a:ext cx="10912000" cy="4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50"/>
              </a:spcAft>
            </a:pPr>
            <a:r>
              <a:rPr sz="30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3000" b="0">
                <a:solidFill>
                  <a:srgbClr val="1F2A44"/>
                </a:solidFill>
                <a:latin typeface="Nunito Sans"/>
              </a:rPr>
              <a:t>Una muestra es la parte del grupo a la que se pregunta.</a:t>
            </a:r>
          </a:p>
          <a:p>
            <a:pPr>
              <a:spcAft>
                <a:spcPts val="1350"/>
              </a:spcAft>
            </a:pPr>
            <a:r>
              <a:rPr sz="30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3000" b="0">
                <a:solidFill>
                  <a:srgbClr val="1F2A44"/>
                </a:solidFill>
                <a:latin typeface="Nunito Sans"/>
              </a:rPr>
              <a:t>Importa a cuántos, pero más a quiénes: una muestra grande pero sesgada sigue fallando.</a:t>
            </a:r>
          </a:p>
          <a:p>
            <a:pPr>
              <a:spcAft>
                <a:spcPts val="1350"/>
              </a:spcAft>
            </a:pPr>
            <a:r>
              <a:rPr sz="30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3000" b="0">
                <a:solidFill>
                  <a:srgbClr val="1F2A44"/>
                </a:solidFill>
                <a:latin typeface="Nunito Sans"/>
              </a:rPr>
              <a:t>Mira también cómo se hizo la pregunta: puede empujar la respuesta.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F4B183"/>
                </a:solidFill>
                <a:latin typeface="Nunito Sans"/>
              </a:rPr>
              <a:t>VÍDEO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620"/>
              </a:spcAft>
            </a:pPr>
            <a:r>
              <a:rPr sz="3600" b="1">
                <a:solidFill>
                  <a:srgbClr val="FBF7EF"/>
                </a:solidFill>
                <a:latin typeface="Fredoka"/>
              </a:rPr>
              <a:t>Qué es una muestra y cuándo es fiable una encuesta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2200000"/>
            <a:ext cx="10912000" cy="2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0">
                <a:solidFill>
                  <a:srgbClr val="C9D3E6"/>
                </a:solidFill>
                <a:latin typeface="Nunito Sans"/>
              </a:rPr>
              <a:t>Reforzar la idea de muestra con otra explicación y otros ejemplos.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F4B183"/>
                </a:solidFill>
                <a:latin typeface="Nunito Sans"/>
              </a:rPr>
              <a:t>AHORA, LA HOJA DEL DÍA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FBF7EF"/>
                </a:solidFill>
                <a:latin typeface="Fredoka"/>
              </a:rPr>
              <a:t>20 minutos · individual · en silencio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2000000"/>
            <a:ext cx="3504000" cy="1800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0000" y="21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0"/>
              </a:spcAft>
            </a:pPr>
            <a:r>
              <a:rPr sz="2200" b="1">
                <a:solidFill>
                  <a:srgbClr val="E8793A"/>
                </a:solidFill>
                <a:latin typeface="Nunito Sans"/>
              </a:rPr>
              <a:t>Peldaño 1 · Todos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0000" y="29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2000" b="0">
                <a:solidFill>
                  <a:srgbClr val="4A5568"/>
                </a:solidFill>
                <a:latin typeface="Nunito Sans"/>
              </a:rPr>
              <a:t>6 puntos</a:t>
            </a:r>
          </a:p>
        </p:txBody>
      </p:sp>
      <p:sp>
        <p:nvSpPr>
          <p:cNvPr id="7" name="Rectangle 6"/>
          <p:cNvSpPr/>
          <p:nvPr/>
        </p:nvSpPr>
        <p:spPr>
          <a:xfrm>
            <a:off x="4344000" y="2000000"/>
            <a:ext cx="3504000" cy="1800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94000" y="21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0"/>
              </a:spcAft>
            </a:pPr>
            <a:r>
              <a:rPr sz="2200" b="1">
                <a:solidFill>
                  <a:srgbClr val="E8793A"/>
                </a:solidFill>
                <a:latin typeface="Nunito Sans"/>
              </a:rPr>
              <a:t>Peldaño 2 · Repaso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94000" y="29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2000" b="0">
                <a:solidFill>
                  <a:srgbClr val="4A5568"/>
                </a:solidFill>
                <a:latin typeface="Nunito Sans"/>
              </a:rPr>
              <a:t>2 puntos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48000" y="2000000"/>
            <a:ext cx="3504000" cy="1800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198000" y="21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0"/>
              </a:spcAft>
            </a:pPr>
            <a:r>
              <a:rPr sz="2200" b="1">
                <a:solidFill>
                  <a:srgbClr val="E8793A"/>
                </a:solidFill>
                <a:latin typeface="Nunito Sans"/>
              </a:rPr>
              <a:t>Peldaño 3 · Reto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98000" y="29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2000" b="0">
                <a:solidFill>
                  <a:srgbClr val="4A5568"/>
                </a:solidFill>
                <a:latin typeface="Nunito Sans"/>
              </a:rPr>
              <a:t>2 puntos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00" y="4200000"/>
            <a:ext cx="10912000" cy="1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0"/>
              </a:spcAft>
            </a:pPr>
            <a:r>
              <a:rPr sz="2200" b="0">
                <a:solidFill>
                  <a:srgbClr val="C9D3E6"/>
                </a:solidFill>
                <a:latin typeface="Nunito Sans"/>
              </a:rPr>
              <a:t>1.ª pasada: sin apuntes, con bolígrafo. 2.ª pasada: con los apuntes, en otro color. Marca «seguro» o «dudo» en cada respuesta.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