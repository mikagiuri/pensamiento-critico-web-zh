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notesMaster" Target="notesMasters/notesMaster1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652000" y="380000"/>
            <a:ext cx="900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980"/>
              </a:spcAft>
            </a:pPr>
            <a:r>
              <a:rPr sz="4400" b="0">
                <a:solidFill>
                  <a:srgbClr val="1F2A44"/>
                </a:solidFill>
                <a:latin typeface="Nunito Sans"/>
              </a:rPr>
              <a:t>🙃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105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85"/>
              </a:spcAft>
            </a:pPr>
            <a:r>
              <a:rPr sz="1300" b="1">
                <a:solidFill>
                  <a:srgbClr val="E8793A"/>
                </a:solidFill>
                <a:latin typeface="Nunito Sans"/>
              </a:rPr>
              <a:t>PENSAMIENTO CRÍTICO · SESIÓN 41 · UNIDAD 7 · NÚMEROS QUE ENGAÑAN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155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250"/>
              </a:spcAft>
            </a:pPr>
            <a:r>
              <a:rPr sz="5000" b="1">
                <a:solidFill>
                  <a:srgbClr val="1F2A44"/>
                </a:solidFill>
                <a:latin typeface="Fredoka"/>
              </a:rPr>
              <a:t>Medias y anécdotas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00" y="4300000"/>
            <a:ext cx="10912000" cy="1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80"/>
              </a:spcAft>
            </a:pPr>
            <a:r>
              <a:rPr sz="2400" b="0">
                <a:solidFill>
                  <a:srgbClr val="4A5568"/>
                </a:solidFill>
                <a:latin typeface="Nunito Sans"/>
              </a:rPr>
              <a:t>La media resume, pero puede esconder diferencias (la mediana ayuda); una anécdota no prueba una regla general, aunque puede tumbar un «siempre».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ANTES DE EMPEZAR · SIN MIRAR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40"/>
              </a:spcAft>
            </a:pPr>
            <a:r>
              <a:rPr sz="3200" b="1">
                <a:solidFill>
                  <a:srgbClr val="1F2A44"/>
                </a:solidFill>
                <a:latin typeface="Fredoka"/>
              </a:rPr>
              <a:t>Escribe en tu hoja las palabras que faltan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1800000"/>
            <a:ext cx="10912000" cy="4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Una correlación puede probar una causa cuando se ______ las otras explicaciones.  (sesión 40)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Causa significa que una cosa ______ la otra.  (sesión 40)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Hoy un experimento como el de Milgram no estaría ______.  (sesión 29)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ANTES DE EMPEZAR · SIN MIRAR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40"/>
              </a:spcAft>
            </a:pPr>
            <a:r>
              <a:rPr sz="3200" b="1">
                <a:solidFill>
                  <a:srgbClr val="1F2A44"/>
                </a:solidFill>
                <a:latin typeface="Fredoka"/>
              </a:rPr>
              <a:t>Corrige con otro color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1800000"/>
            <a:ext cx="10912000" cy="4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Una correlación puede probar una causa cuando se </a:t>
            </a:r>
            <a:r>
              <a:rPr sz="2600" b="1">
                <a:solidFill>
                  <a:srgbClr val="1F2A44"/>
                </a:solidFill>
                <a:latin typeface="Nunito Sans"/>
              </a:rPr>
              <a:t>descartan</a:t>
            </a:r>
            <a:r>
              <a:rPr sz="2600" b="0">
                <a:solidFill>
                  <a:srgbClr val="1F2A44"/>
                </a:solidFill>
                <a:latin typeface="Nunito Sans"/>
              </a:rPr>
              <a:t> las otras explicaciones.  (sesión 40)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Causa significa que una cosa </a:t>
            </a:r>
            <a:r>
              <a:rPr sz="2600" b="1">
                <a:solidFill>
                  <a:srgbClr val="1F2A44"/>
                </a:solidFill>
                <a:latin typeface="Nunito Sans"/>
              </a:rPr>
              <a:t>produce</a:t>
            </a:r>
            <a:r>
              <a:rPr sz="2600" b="0">
                <a:solidFill>
                  <a:srgbClr val="1F2A44"/>
                </a:solidFill>
                <a:latin typeface="Nunito Sans"/>
              </a:rPr>
              <a:t> la otra.  (sesión 40)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Hoy un experimento como el de Milgram no estaría </a:t>
            </a:r>
            <a:r>
              <a:rPr sz="2600" b="1">
                <a:solidFill>
                  <a:srgbClr val="1F2A44"/>
                </a:solidFill>
                <a:latin typeface="Nunito Sans"/>
              </a:rPr>
              <a:t>permitido</a:t>
            </a:r>
            <a:r>
              <a:rPr sz="2600" b="0">
                <a:solidFill>
                  <a:srgbClr val="1F2A44"/>
                </a:solidFill>
                <a:latin typeface="Nunito Sans"/>
              </a:rPr>
              <a:t>.  (sesión 29)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PARA EMPEZAR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00" y="1300000"/>
            <a:ext cx="90000" cy="2400000"/>
          </a:xfrm>
          <a:prstGeom prst="rect">
            <a:avLst/>
          </a:prstGeom>
          <a:solidFill>
            <a:srgbClr val="E879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40000" y="1300000"/>
            <a:ext cx="10612000" cy="26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530"/>
              </a:spcAft>
            </a:pPr>
            <a:r>
              <a:rPr sz="3400" b="1">
                <a:solidFill>
                  <a:srgbClr val="1F2A44"/>
                </a:solidFill>
                <a:latin typeface="Nunito Sans"/>
              </a:rPr>
              <a:t>«En esta empresa el sueldo medio es de 5.000 € al mes.» Trabajan un jefe y cuatro empleados. (Ejemplo inventado.)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00" y="4300000"/>
            <a:ext cx="10912000" cy="1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70"/>
              </a:spcAft>
            </a:pPr>
            <a:r>
              <a:rPr sz="2600" b="0">
                <a:solidFill>
                  <a:srgbClr val="4A5568"/>
                </a:solidFill>
                <a:latin typeface="Nunito Sans"/>
              </a:rPr>
              <a:t>¿Cuánto crees que cobran los empleados?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A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2300000"/>
            <a:ext cx="10912000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10"/>
              </a:spcAft>
            </a:pPr>
            <a:r>
              <a:rPr sz="1800" b="1">
                <a:solidFill>
                  <a:srgbClr val="F4B183"/>
                </a:solidFill>
                <a:latin typeface="Nunito Sans"/>
              </a:rPr>
              <a:t>BLOQUE 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280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160"/>
              </a:spcAft>
            </a:pPr>
            <a:r>
              <a:rPr sz="4800" b="1">
                <a:solidFill>
                  <a:srgbClr val="FBF7EF"/>
                </a:solidFill>
                <a:latin typeface="Fredoka"/>
              </a:rPr>
              <a:t>La media y la anécdota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BLOQUE 1 · LA MEDIA Y LA ANÉCDOTA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Media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50000"/>
            <a:ext cx="10912000" cy="1150000"/>
          </a:xfrm>
          <a:prstGeom prst="rect">
            <a:avLst/>
          </a:prstGeom>
          <a:solidFill>
            <a:srgbClr val="EAF0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73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260"/>
              </a:spcAft>
            </a:pPr>
            <a:r>
              <a:rPr sz="2800" b="1">
                <a:solidFill>
                  <a:srgbClr val="1F2A44"/>
                </a:solidFill>
                <a:latin typeface="Nunito Sans"/>
              </a:rPr>
              <a:t>La media se calcula sumando todos los datos y dividiendo entre cuántos datos hay.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00" y="3000000"/>
            <a:ext cx="10912000" cy="345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Notas 4, 6 y 8 → (4+6+8) : 3 = 6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Resume muchos datos en un solo número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Pero </a:t>
            </a:r>
            <a:r>
              <a:rPr sz="2800" b="1">
                <a:solidFill>
                  <a:srgbClr val="1F2A44"/>
                </a:solidFill>
                <a:latin typeface="Nunito Sans"/>
              </a:rPr>
              <a:t>esconde</a:t>
            </a:r>
            <a:r>
              <a:rPr sz="2800" b="0">
                <a:solidFill>
                  <a:srgbClr val="1F2A44"/>
                </a:solidFill>
                <a:latin typeface="Nunito Sans"/>
              </a:rPr>
              <a:t> cómo son los datos por dentro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La </a:t>
            </a:r>
            <a:r>
              <a:rPr sz="2800" b="1">
                <a:solidFill>
                  <a:srgbClr val="1F2A44"/>
                </a:solidFill>
                <a:latin typeface="Nunito Sans"/>
              </a:rPr>
              <a:t>mediana</a:t>
            </a:r>
            <a:r>
              <a:rPr sz="2800" b="0">
                <a:solidFill>
                  <a:srgbClr val="1F2A44"/>
                </a:solidFill>
                <a:latin typeface="Nunito Sans"/>
              </a:rPr>
              <a:t> es el dato del medio, ordenados de menor a mayor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BLOQUE 1 · LA MEDIA Y LA ANÉCDOTA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Dos clases con media 5 (ejemplo inventado)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40000" y="1700000"/>
          <a:ext cx="10912000" cy="240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37333"/>
                <a:gridCol w="3637333"/>
                <a:gridCol w="3637334"/>
              </a:tblGrid>
              <a:tr h="600000">
                <a:tc>
                  <a:txBody>
                    <a:bodyPr/>
                    <a:lstStyle/>
                    <a:p>
                      <a:r>
                        <a:rPr sz="2000" b="1">
                          <a:solidFill>
                            <a:srgbClr val="FBF7EF"/>
                          </a:solidFill>
                          <a:latin typeface="Fredoka"/>
                        </a:rPr>
                        <a:t>Clase</a:t>
                      </a:r>
                    </a:p>
                  </a:txBody>
                  <a:tcPr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1">
                          <a:solidFill>
                            <a:srgbClr val="FBF7EF"/>
                          </a:solidFill>
                          <a:latin typeface="Fredoka"/>
                        </a:rPr>
                        <a:t>Notas</a:t>
                      </a:r>
                    </a:p>
                  </a:txBody>
                  <a:tcPr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1">
                          <a:solidFill>
                            <a:srgbClr val="FBF7EF"/>
                          </a:solidFill>
                          <a:latin typeface="Fredoka"/>
                        </a:rPr>
                        <a:t>Media</a:t>
                      </a:r>
                    </a:p>
                  </a:txBody>
                  <a:tcPr>
                    <a:solidFill>
                      <a:srgbClr val="1F2A44"/>
                    </a:solidFill>
                  </a:tcPr>
                </a:tc>
              </a:tr>
              <a:tr h="600000"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2.º 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5, 5, 5, 5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600000"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2.º B</a:t>
                      </a:r>
                    </a:p>
                  </a:txBody>
                  <a:tcPr>
                    <a:solidFill>
                      <a:srgbClr val="EAF0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0, 0, 10, 10</a:t>
                      </a:r>
                    </a:p>
                  </a:txBody>
                  <a:tcPr>
                    <a:solidFill>
                      <a:srgbClr val="EAF0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5</a:t>
                      </a:r>
                    </a:p>
                  </a:txBody>
                  <a:tcPr>
                    <a:solidFill>
                      <a:srgbClr val="EAF0F7"/>
                    </a:solidFill>
                  </a:tcPr>
                </a:tc>
              </a:tr>
              <a:tr h="600000"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¿Iguales?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A: todos aprueban justo. B: la mitad suspende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Misma media, clases muy distintas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BLOQUE 1 · LA MEDIA Y LA ANÉCDOTA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Anécdota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50000"/>
            <a:ext cx="10912000" cy="1150000"/>
          </a:xfrm>
          <a:prstGeom prst="rect">
            <a:avLst/>
          </a:prstGeom>
          <a:solidFill>
            <a:srgbClr val="EAF0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73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260"/>
              </a:spcAft>
            </a:pPr>
            <a:r>
              <a:rPr sz="2800" b="1">
                <a:solidFill>
                  <a:srgbClr val="1F2A44"/>
                </a:solidFill>
                <a:latin typeface="Nunito Sans"/>
              </a:rPr>
              <a:t>Una anécdota es un caso suelto que alguien cuenta. Puede ser verdad, pero no dice cómo es la mayoría.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00" y="3000000"/>
            <a:ext cx="10912000" cy="345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«Mi abuelo fumó toda la vida y vivió 95 años»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Un caso suelto </a:t>
            </a:r>
            <a:r>
              <a:rPr sz="2800" b="1">
                <a:solidFill>
                  <a:srgbClr val="1F2A44"/>
                </a:solidFill>
                <a:latin typeface="Nunito Sans"/>
              </a:rPr>
              <a:t>no dice</a:t>
            </a:r>
            <a:r>
              <a:rPr sz="2800" b="0">
                <a:solidFill>
                  <a:srgbClr val="1F2A44"/>
                </a:solidFill>
                <a:latin typeface="Nunito Sans"/>
              </a:rPr>
              <a:t> cómo es la mayoría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Los datos salen de </a:t>
            </a:r>
            <a:r>
              <a:rPr sz="2800" b="1">
                <a:solidFill>
                  <a:srgbClr val="1F2A44"/>
                </a:solidFill>
                <a:latin typeface="Nunito Sans"/>
              </a:rPr>
              <a:t>muchos</a:t>
            </a:r>
            <a:r>
              <a:rPr sz="2800" b="0">
                <a:solidFill>
                  <a:srgbClr val="1F2A44"/>
                </a:solidFill>
                <a:latin typeface="Nunito Sans"/>
              </a:rPr>
              <a:t> casos contados bien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A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2300000"/>
            <a:ext cx="10912000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10"/>
              </a:spcAft>
            </a:pPr>
            <a:r>
              <a:rPr sz="1800" b="1">
                <a:solidFill>
                  <a:srgbClr val="F4B183"/>
                </a:solidFill>
                <a:latin typeface="Nunito Sans"/>
              </a:rPr>
              <a:t>BLOQUE 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280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160"/>
              </a:spcAft>
            </a:pPr>
            <a:r>
              <a:rPr sz="4800" b="1">
                <a:solidFill>
                  <a:srgbClr val="FBF7EF"/>
                </a:solidFill>
                <a:latin typeface="Fredoka"/>
              </a:rPr>
              <a:t>Casos resueltos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BLOQUE 2 · CASOS RESUELTOS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Caso 1 · El sueldo del principio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00000"/>
            <a:ext cx="10912000" cy="110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65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1F2A44"/>
                </a:solidFill>
                <a:latin typeface="Nunito Sans"/>
              </a:rPr>
              <a:t>Empresa inventada: el jefe cobra 20.000 € al mes y cada uno de los cuatro empleados, 1.250 €.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00" y="2900000"/>
            <a:ext cx="10912000" cy="3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Sumo y divido: 20.000 + 4 × 1.250 = 25.000 €; 25.000 : 5 = 5.000 €. La media es verdad.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Pero ningún empleado cobra 5.000 €: el sueldo del jefe tira de la media hacia arriba.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Ordeno: 1.250, 1.250, </a:t>
            </a:r>
            <a:r>
              <a:rPr sz="2400" b="1">
                <a:solidFill>
                  <a:srgbClr val="1F2A44"/>
                </a:solidFill>
                <a:latin typeface="Nunito Sans"/>
              </a:rPr>
              <a:t>1.250</a:t>
            </a:r>
            <a:r>
              <a:rPr sz="2400" b="0">
                <a:solidFill>
                  <a:srgbClr val="1F2A44"/>
                </a:solidFill>
                <a:latin typeface="Nunito Sans"/>
              </a:rPr>
              <a:t>, 1.250, 20.000. La mediana, el dato del medio, es 1.250 €.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4.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Conclusión: un dato muy grande deforma la media. Aquí la mediana dice mejor lo que cobra la mayoría.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BLOQUE 2 · CASOS RESUELTOS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Caso 2 · El abuelo fumador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00000"/>
            <a:ext cx="10912000" cy="110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65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1F2A44"/>
                </a:solidFill>
                <a:latin typeface="Nunito Sans"/>
              </a:rPr>
              <a:t>Aitor: «Fumar no es tan malo. Mi abuelo fumó toda la vida y vivió 95 años».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00" y="2900000"/>
            <a:ext cx="10912000" cy="3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¿Es verdad lo del abuelo? Puede que sí.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¿Es suficiente? No: es un caso entre millones de fumadores.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Los datos no dicen que «todos» los fumadores mueren jóvenes: dicen que, de media, viven bastantes años menos.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4.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Conclusión: el abuelo solo tumbaría «todos los fumadores mueren jóvenes», y los datos no dicen eso. Una anécdota no los tumba.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BLOQUE 2 · CASOS RESUELTOS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Caso 3 · Un gol por partido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00000"/>
            <a:ext cx="10912000" cy="110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65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1F2A44"/>
                </a:solidFill>
                <a:latin typeface="Nunito Sans"/>
              </a:rPr>
              <a:t>El entrenador del equipo del barrio: «Kevin marca de media un gol por partido». Han jugado 10 partidos. (Ejemplo inventado.)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00" y="2900000"/>
            <a:ext cx="10912000" cy="3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¿Marca en cada partido? No lo sé: la media no lo dice.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Puede que marcara 10 goles en un partido y 0 en los otros nueve.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10 goles : 10 partidos = 1 de media, igual que marcando uno cada día.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4.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Conclusión: la misma media puede esconder situaciones muy distintas.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A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2300000"/>
            <a:ext cx="10912000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10"/>
              </a:spcAft>
            </a:pPr>
            <a:r>
              <a:rPr sz="1800" b="1">
                <a:solidFill>
                  <a:srgbClr val="F4B183"/>
                </a:solidFill>
                <a:latin typeface="Nunito Sans"/>
              </a:rPr>
              <a:t>BLOQUE 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280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160"/>
              </a:spcAft>
            </a:pPr>
            <a:r>
              <a:rPr sz="4800" b="1">
                <a:solidFill>
                  <a:srgbClr val="FBF7EF"/>
                </a:solidFill>
                <a:latin typeface="Fredoka"/>
              </a:rPr>
              <a:t>Error típico y caso trampa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BLOQUE 3 · ERROR TÍPICO Y CASO TRAMPA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¿Qué sirve como prueba?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50000"/>
            <a:ext cx="5306000" cy="4400000"/>
          </a:xfrm>
          <a:prstGeom prst="rect">
            <a:avLst/>
          </a:prstGeom>
          <a:solidFill>
            <a:srgbClr val="FBE3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750000"/>
            <a:ext cx="4906000" cy="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60"/>
              </a:spcAft>
            </a:pPr>
            <a:r>
              <a:rPr sz="2800" b="1">
                <a:solidFill>
                  <a:srgbClr val="C2531C"/>
                </a:solidFill>
                <a:latin typeface="Nunito Sans"/>
              </a:rPr>
              <a:t>Solo, no basta como prueba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40000" y="2400000"/>
            <a:ext cx="4906000" cy="3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«A mi primo le funcionó»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«Conozco a uno que…»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Un vídeo viral de un solo caso</a:t>
            </a:r>
          </a:p>
        </p:txBody>
      </p:sp>
      <p:sp>
        <p:nvSpPr>
          <p:cNvPr id="7" name="Rectangle 6"/>
          <p:cNvSpPr/>
          <p:nvPr/>
        </p:nvSpPr>
        <p:spPr>
          <a:xfrm>
            <a:off x="6246000" y="1650000"/>
            <a:ext cx="5306000" cy="4400000"/>
          </a:xfrm>
          <a:prstGeom prst="rect">
            <a:avLst/>
          </a:prstGeom>
          <a:solidFill>
            <a:srgbClr val="EAF0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46000" y="1750000"/>
            <a:ext cx="4906000" cy="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60"/>
              </a:spcAft>
            </a:pPr>
            <a:r>
              <a:rPr sz="2800" b="1">
                <a:solidFill>
                  <a:srgbClr val="2F6FB5"/>
                </a:solidFill>
                <a:latin typeface="Nunito Sans"/>
              </a:rPr>
              <a:t>Pruebas más fuertes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46000" y="2400000"/>
            <a:ext cx="4906000" cy="3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Muchos casos contados bien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Comparar con un grupo que no lo hizo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Varios estudios que coinciden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C9A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1F2A44"/>
                </a:solidFill>
                <a:latin typeface="Nunito Sans"/>
              </a:rPr>
              <a:t>CASO TRAMPA · BLOQUE 3 · ERROR TÍPICO Y CASO TRAMPA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⚠ El casco que «nunca» falla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00000"/>
            <a:ext cx="10912000" cy="1100000"/>
          </a:xfrm>
          <a:prstGeom prst="rect">
            <a:avLst/>
          </a:prstGeom>
          <a:solidFill>
            <a:srgbClr val="FBF7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65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1F2A44"/>
                </a:solidFill>
                <a:latin typeface="Nunito Sans"/>
              </a:rPr>
              <a:t>Anuncio (inventado): «Con nuestro casco, nunca te harás una herida en la cabeza». Iker se cayó con ese casco puesto y se hizo una herida.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00" y="2900000"/>
            <a:ext cx="10912000" cy="3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Es solo una anécdota. ¿Entonces no sirve para nada?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Para saber cómo es la mayoría, un caso no basta.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Pero el anuncio dice «nunca». Para tumbar un «nunca», basta un </a:t>
            </a:r>
            <a:r>
              <a:rPr sz="2400" b="1">
                <a:solidFill>
                  <a:srgbClr val="1F2A44"/>
                </a:solidFill>
                <a:latin typeface="Nunito Sans"/>
              </a:rPr>
              <a:t>contraejemplo</a:t>
            </a:r>
            <a:r>
              <a:rPr sz="2400" b="0">
                <a:solidFill>
                  <a:srgbClr val="1F2A44"/>
                </a:solidFill>
                <a:latin typeface="Nunito Sans"/>
              </a:rPr>
              <a:t>: un caso que dice lo contrario.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4.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Si lo de Iker es verdad, el anuncio es falso, aunque el casco proteja mucho.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5.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Conclusión: una anécdota no prueba una regla general, pero sí puede tumbar un «nunca» o un «siempre».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LO DE HOY EN TRES LÍNEAS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Escríbelo tú primero, sin mirar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1800000"/>
            <a:ext cx="10912000" cy="1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70"/>
              </a:spcAft>
            </a:pPr>
            <a:r>
              <a:rPr sz="2600" b="0">
                <a:solidFill>
                  <a:srgbClr val="4A5568"/>
                </a:solidFill>
                <a:latin typeface="Nunito Sans"/>
              </a:rPr>
              <a:t>Dos minutos. Después lo comparamos.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LO DE HOY EN TRES LÍNEAS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1300000"/>
            <a:ext cx="10912000" cy="4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350"/>
              </a:spcAft>
            </a:pPr>
            <a:r>
              <a:rPr sz="30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3000" b="0">
                <a:solidFill>
                  <a:srgbClr val="1F2A44"/>
                </a:solidFill>
                <a:latin typeface="Nunito Sans"/>
              </a:rPr>
              <a:t>La media suma y divide; la mediana es el dato del medio.</a:t>
            </a:r>
          </a:p>
          <a:p>
            <a:pPr>
              <a:spcAft>
                <a:spcPts val="1350"/>
              </a:spcAft>
            </a:pPr>
            <a:r>
              <a:rPr sz="30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3000" b="0">
                <a:solidFill>
                  <a:srgbClr val="1F2A44"/>
                </a:solidFill>
                <a:latin typeface="Nunito Sans"/>
              </a:rPr>
              <a:t>La media resume, pero esconde: un dato muy grande o muy pequeño la deforma.</a:t>
            </a:r>
          </a:p>
          <a:p>
            <a:pPr>
              <a:spcAft>
                <a:spcPts val="1350"/>
              </a:spcAft>
            </a:pPr>
            <a:r>
              <a:rPr sz="30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3000" b="0">
                <a:solidFill>
                  <a:srgbClr val="1F2A44"/>
                </a:solidFill>
                <a:latin typeface="Nunito Sans"/>
              </a:rPr>
              <a:t>Una anécdota no prueba cómo es la mayoría, pero sí puede tumbar un «nunca».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A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F4B183"/>
                </a:solidFill>
                <a:latin typeface="Nunito Sans"/>
              </a:rPr>
              <a:t>VÍDEO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20"/>
              </a:spcAft>
            </a:pPr>
            <a:r>
              <a:rPr sz="3600" b="1">
                <a:solidFill>
                  <a:srgbClr val="FBF7EF"/>
                </a:solidFill>
                <a:latin typeface="Fredoka"/>
              </a:rPr>
              <a:t>Por qué la media puede engañar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2200000"/>
            <a:ext cx="10912000" cy="20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80"/>
              </a:spcAft>
            </a:pPr>
            <a:r>
              <a:rPr sz="2400" b="0">
                <a:solidFill>
                  <a:srgbClr val="C9D3E6"/>
                </a:solidFill>
                <a:latin typeface="Nunito Sans"/>
              </a:rPr>
              <a:t>Ver otro ejemplo de media deformada por un dato muy grande.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A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F4B183"/>
                </a:solidFill>
                <a:latin typeface="Nunito Sans"/>
              </a:rPr>
              <a:t>AHORA, LA HOJA DEL DÍA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FBF7EF"/>
                </a:solidFill>
                <a:latin typeface="Fredoka"/>
              </a:rPr>
              <a:t>20 minutos · individual · en silencio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2000000"/>
            <a:ext cx="3504000" cy="1800000"/>
          </a:xfrm>
          <a:prstGeom prst="rect">
            <a:avLst/>
          </a:prstGeom>
          <a:solidFill>
            <a:srgbClr val="FBF7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90000" y="21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90"/>
              </a:spcAft>
            </a:pPr>
            <a:r>
              <a:rPr sz="2200" b="1">
                <a:solidFill>
                  <a:srgbClr val="E8793A"/>
                </a:solidFill>
                <a:latin typeface="Nunito Sans"/>
              </a:rPr>
              <a:t>Peldaño 1 · Todos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0000" y="29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2000" b="0">
                <a:solidFill>
                  <a:srgbClr val="4A5568"/>
                </a:solidFill>
                <a:latin typeface="Nunito Sans"/>
              </a:rPr>
              <a:t>6 puntos</a:t>
            </a:r>
          </a:p>
        </p:txBody>
      </p:sp>
      <p:sp>
        <p:nvSpPr>
          <p:cNvPr id="7" name="Rectangle 6"/>
          <p:cNvSpPr/>
          <p:nvPr/>
        </p:nvSpPr>
        <p:spPr>
          <a:xfrm>
            <a:off x="4344000" y="2000000"/>
            <a:ext cx="3504000" cy="1800000"/>
          </a:xfrm>
          <a:prstGeom prst="rect">
            <a:avLst/>
          </a:prstGeom>
          <a:solidFill>
            <a:srgbClr val="FBF7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494000" y="21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90"/>
              </a:spcAft>
            </a:pPr>
            <a:r>
              <a:rPr sz="2200" b="1">
                <a:solidFill>
                  <a:srgbClr val="E8793A"/>
                </a:solidFill>
                <a:latin typeface="Nunito Sans"/>
              </a:rPr>
              <a:t>Peldaño 2 · Repaso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94000" y="29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2000" b="0">
                <a:solidFill>
                  <a:srgbClr val="4A5568"/>
                </a:solidFill>
                <a:latin typeface="Nunito Sans"/>
              </a:rPr>
              <a:t>2 puntos</a:t>
            </a:r>
          </a:p>
        </p:txBody>
      </p:sp>
      <p:sp>
        <p:nvSpPr>
          <p:cNvPr id="10" name="Rectangle 9"/>
          <p:cNvSpPr/>
          <p:nvPr/>
        </p:nvSpPr>
        <p:spPr>
          <a:xfrm>
            <a:off x="8048000" y="2000000"/>
            <a:ext cx="3504000" cy="1800000"/>
          </a:xfrm>
          <a:prstGeom prst="rect">
            <a:avLst/>
          </a:prstGeom>
          <a:solidFill>
            <a:srgbClr val="FBF7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198000" y="21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90"/>
              </a:spcAft>
            </a:pPr>
            <a:r>
              <a:rPr sz="2200" b="1">
                <a:solidFill>
                  <a:srgbClr val="E8793A"/>
                </a:solidFill>
                <a:latin typeface="Nunito Sans"/>
              </a:rPr>
              <a:t>Peldaño 3 · Reto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198000" y="29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2000" b="0">
                <a:solidFill>
                  <a:srgbClr val="4A5568"/>
                </a:solidFill>
                <a:latin typeface="Nunito Sans"/>
              </a:rPr>
              <a:t>2 puntos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00" y="4200000"/>
            <a:ext cx="10912000" cy="1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90"/>
              </a:spcAft>
            </a:pPr>
            <a:r>
              <a:rPr sz="2200" b="0">
                <a:solidFill>
                  <a:srgbClr val="C9D3E6"/>
                </a:solidFill>
                <a:latin typeface="Nunito Sans"/>
              </a:rPr>
              <a:t>1.ª pasada: sin apuntes, con bolígrafo. 2.ª pasada: con los apuntes, en otro color. Marca «seguro» o «dudo» en cada respuesta.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