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652000" y="380000"/>
            <a:ext cx="9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980"/>
              </a:spcAft>
            </a:pPr>
            <a:r>
              <a:rPr sz="4400" b="0">
                <a:solidFill>
                  <a:srgbClr val="1F2A44"/>
                </a:solidFill>
                <a:latin typeface="Nunito Sans"/>
              </a:rPr>
              <a:t>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105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85"/>
              </a:spcAft>
            </a:pPr>
            <a:r>
              <a:rPr sz="1300" b="1">
                <a:solidFill>
                  <a:srgbClr val="E8793A"/>
                </a:solidFill>
                <a:latin typeface="Nunito Sans"/>
              </a:rPr>
              <a:t>PENSAMIENTO CRÍTICO · SESIÓN 65 · UNIDAD 12 · GRUPO Y COHESIÓN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55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250"/>
              </a:spcAft>
            </a:pPr>
            <a:r>
              <a:rPr sz="5000" b="1">
                <a:solidFill>
                  <a:srgbClr val="1F2A44"/>
                </a:solidFill>
                <a:latin typeface="Fredoka"/>
              </a:rPr>
              <a:t>La cohesión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4300000"/>
            <a:ext cx="10912000" cy="1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0">
                <a:solidFill>
                  <a:srgbClr val="4A5568"/>
                </a:solidFill>
                <a:latin typeface="Nunito Sans"/>
              </a:rPr>
              <a:t>La cohesión es la fuerza que mantiene unido a un grupo; no es pensar todos igual ni cerrarse a los de fuera.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ANTES DE EMPEZAR · SIN MIRAR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40"/>
              </a:spcAft>
            </a:pPr>
            <a:r>
              <a:rPr sz="3200" b="1">
                <a:solidFill>
                  <a:srgbClr val="1F2A44"/>
                </a:solidFill>
                <a:latin typeface="Fredoka"/>
              </a:rPr>
              <a:t>Escribe en tu hoja las palabras que faltan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Para ser un grupo no basta con estar en el mismo ______.  (sesión 64)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Una ______ es una regla del grupo, escrita o no.  (sesión 64)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El algoritmo de una red no busca la ______: busca, sobre todo, que sigas mirando.  (sesión 53)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ANTES DE EMPEZAR · SIN MIRAR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40"/>
              </a:spcAft>
            </a:pPr>
            <a:r>
              <a:rPr sz="3200" b="1">
                <a:solidFill>
                  <a:srgbClr val="1F2A44"/>
                </a:solidFill>
                <a:latin typeface="Fredoka"/>
              </a:rPr>
              <a:t>Corrige con otro color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Para ser un grupo no basta con estar en el mismo </a:t>
            </a:r>
            <a:r>
              <a:rPr sz="2600" b="1">
                <a:solidFill>
                  <a:srgbClr val="1F2A44"/>
                </a:solidFill>
                <a:latin typeface="Nunito Sans"/>
              </a:rPr>
              <a:t>sitio</a:t>
            </a:r>
            <a:r>
              <a:rPr sz="2600" b="0">
                <a:solidFill>
                  <a:srgbClr val="1F2A44"/>
                </a:solidFill>
                <a:latin typeface="Nunito Sans"/>
              </a:rPr>
              <a:t>.  (sesión 64)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Una </a:t>
            </a:r>
            <a:r>
              <a:rPr sz="2600" b="1">
                <a:solidFill>
                  <a:srgbClr val="1F2A44"/>
                </a:solidFill>
                <a:latin typeface="Nunito Sans"/>
              </a:rPr>
              <a:t>norma</a:t>
            </a:r>
            <a:r>
              <a:rPr sz="2600" b="0">
                <a:solidFill>
                  <a:srgbClr val="1F2A44"/>
                </a:solidFill>
                <a:latin typeface="Nunito Sans"/>
              </a:rPr>
              <a:t> es una regla del grupo, escrita o no.  (sesión 64)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El algoritmo de una red no busca la </a:t>
            </a:r>
            <a:r>
              <a:rPr sz="2600" b="1">
                <a:solidFill>
                  <a:srgbClr val="1F2A44"/>
                </a:solidFill>
                <a:latin typeface="Nunito Sans"/>
              </a:rPr>
              <a:t>verdad</a:t>
            </a:r>
            <a:r>
              <a:rPr sz="2600" b="0">
                <a:solidFill>
                  <a:srgbClr val="1F2A44"/>
                </a:solidFill>
                <a:latin typeface="Nunito Sans"/>
              </a:rPr>
              <a:t>: busca, sobre todo, que sigas mirando.  (sesión 53)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PARA EMPEZAR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00" y="1300000"/>
            <a:ext cx="90000" cy="2400000"/>
          </a:xfrm>
          <a:prstGeom prst="rect">
            <a:avLst/>
          </a:prstGeom>
          <a:solidFill>
            <a:srgbClr val="E87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40000" y="1300000"/>
            <a:ext cx="10612000" cy="2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530"/>
              </a:spcAft>
            </a:pPr>
            <a:r>
              <a:rPr sz="3400" b="1">
                <a:solidFill>
                  <a:srgbClr val="1F2A44"/>
                </a:solidFill>
                <a:latin typeface="Nunito Sans"/>
              </a:rPr>
              <a:t>Dos equipos tienen jugadoras igual de buenas. En uno se pasan el balón y se animan. En el otro, cada una juega a lo suyo.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4300000"/>
            <a:ext cx="10912000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0">
                <a:solidFill>
                  <a:srgbClr val="4A5568"/>
                </a:solidFill>
                <a:latin typeface="Nunito Sans"/>
              </a:rPr>
              <a:t>¿Qué equipo crees que ganará más partidos? ¿Por qué?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2300000"/>
            <a:ext cx="1091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10"/>
              </a:spcAft>
            </a:pPr>
            <a:r>
              <a:rPr sz="1800" b="1">
                <a:solidFill>
                  <a:srgbClr val="F4B183"/>
                </a:solidFill>
                <a:latin typeface="Nunito Sans"/>
              </a:rPr>
              <a:t>BLOQUE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280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60"/>
              </a:spcAft>
            </a:pPr>
            <a:r>
              <a:rPr sz="4800" b="1">
                <a:solidFill>
                  <a:srgbClr val="FBF7EF"/>
                </a:solidFill>
                <a:latin typeface="Fredoka"/>
              </a:rPr>
              <a:t>Qué es la cohesión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1 · QUÉ ES LA COHESIÓN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Cohesión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50000"/>
            <a:ext cx="10912000" cy="1150000"/>
          </a:xfrm>
          <a:prstGeom prst="rect">
            <a:avLst/>
          </a:prstGeom>
          <a:solidFill>
            <a:srgbClr val="EA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73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1F2A44"/>
                </a:solidFill>
                <a:latin typeface="Nunito Sans"/>
              </a:rPr>
              <a:t>Es la fuerza que mantiene unido a un grupo: las ganas de estar y de hacer cosas juntos.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3000000"/>
            <a:ext cx="10912000" cy="345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Un grupo cohesionado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suele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trabajar mejor y ayudarse más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Suele arreglar mejor sus conflictos (sus peleas y desacuerdos)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Hay grupos con mucha y con poca: no es todo o nada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1 · QUÉ ES LA COHESIÓN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Cinco preguntas para ver si un grupo está unido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0000" y="173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080"/>
              </a:spcAft>
            </a:pPr>
            <a:r>
              <a:rPr sz="2400" b="0">
                <a:solidFill>
                  <a:srgbClr val="1F2A44"/>
                </a:solidFill>
                <a:latin typeface="Nunito Sans"/>
              </a:rPr>
              <a:t>Una forma de mirarlo: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3000000"/>
            <a:ext cx="10912000" cy="345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Participación: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¿deciden todos, o solo los que más hablan?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Relación: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¿se llevan bien, también fuera de cada cuadrilla?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Inclusión: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¿alguien se queda fuera por ser diferente?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Cooperación: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¿ven que juntos consiguen más?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Solidaridad: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¿se ayudan y respetan las diferencias?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1 · QUÉ ES LA COHESIÓN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Cohesión y presión de grupo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50000"/>
            <a:ext cx="5306000" cy="4400000"/>
          </a:xfrm>
          <a:prstGeom prst="rect">
            <a:avLst/>
          </a:prstGeom>
          <a:solidFill>
            <a:srgbClr val="FBE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750000"/>
            <a:ext cx="4906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C2531C"/>
                </a:solidFill>
                <a:latin typeface="Nunito Sans"/>
              </a:rPr>
              <a:t>No es cohesión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0000" y="2400000"/>
            <a:ext cx="4906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Que todos piensen igual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Callar lo que piensas para no desentonar (la conformidad, sesión 29)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Cerrarse a los de fuera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Dejar a alguien fuera</a:t>
            </a:r>
          </a:p>
        </p:txBody>
      </p:sp>
      <p:sp>
        <p:nvSpPr>
          <p:cNvPr id="7" name="Rectangle 6"/>
          <p:cNvSpPr/>
          <p:nvPr/>
        </p:nvSpPr>
        <p:spPr>
          <a:xfrm>
            <a:off x="6246000" y="1650000"/>
            <a:ext cx="5306000" cy="4400000"/>
          </a:xfrm>
          <a:prstGeom prst="rect">
            <a:avLst/>
          </a:prstGeom>
          <a:solidFill>
            <a:srgbClr val="EA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000" y="1750000"/>
            <a:ext cx="4906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2F6FB5"/>
                </a:solidFill>
                <a:latin typeface="Nunito Sans"/>
              </a:rPr>
              <a:t>Sí es cohesión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46000" y="2400000"/>
            <a:ext cx="4906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Querer estar y hacer cosas juntos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Poder decir «no estoy de acuerdo» sin miedo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Abrirse a los que llegan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Ayudarse unos a otros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2300000"/>
            <a:ext cx="1091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10"/>
              </a:spcAft>
            </a:pPr>
            <a:r>
              <a:rPr sz="1800" b="1">
                <a:solidFill>
                  <a:srgbClr val="F4B183"/>
                </a:solidFill>
                <a:latin typeface="Nunito Sans"/>
              </a:rPr>
              <a:t>BLOQUE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280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60"/>
              </a:spcAft>
            </a:pPr>
            <a:r>
              <a:rPr sz="4800" b="1">
                <a:solidFill>
                  <a:srgbClr val="FBF7EF"/>
                </a:solidFill>
                <a:latin typeface="Fredoka"/>
              </a:rPr>
              <a:t>Casos resueltos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2 · CASOS RESUELTOS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Un experimento real · El campamento de Sherif (1954)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El psicólogo Muzafer Sherif llevó a 22 chicos de unos 11 años a un campamento en Estados Unidos. Los separó en dos grupos. Los chicos no se conocían.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Primero, cada grupo se unió por dentro: se pusieron nombre (las Águilas y las Serpientes) y tuvieron su bandera.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Luego compitieron por premios. Llegaron los insultos: quemaron una bandera y asaltaron las cabañas del otro grupo.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Comer juntos no bastó. Ayudaron los problemas que solo podían resolver juntos, como arreglar el agua del campamento.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Conclusión: competir unió a cada grupo por dentro, pero los enfrentó. Un objetivo común acercó a los dos.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2 · CASOS RESUELTOS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Cooperar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50000"/>
            <a:ext cx="10912000" cy="1150000"/>
          </a:xfrm>
          <a:prstGeom prst="rect">
            <a:avLst/>
          </a:prstGeom>
          <a:solidFill>
            <a:srgbClr val="EA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73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1F2A44"/>
                </a:solidFill>
                <a:latin typeface="Nunito Sans"/>
              </a:rPr>
              <a:t>Cooperar</a:t>
            </a:r>
            <a:r>
              <a:rPr sz="2800" b="1">
                <a:solidFill>
                  <a:srgbClr val="1F2A44"/>
                </a:solidFill>
                <a:latin typeface="Nunito Sans"/>
              </a:rPr>
              <a:t> es trabajar juntos hacia un objetivo común: si a uno le va bien, les va bien a todos.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3000000"/>
            <a:ext cx="10912000" cy="345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Es lo que acercó a los dos grupos del campamento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Competir no es malo, pero puede enfrentar a los grupos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Los chicos no sabían que era un experimento: hoy eso se critica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2 · CASOS RESUELTOS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Caso · El equipo de una chica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En el equipo de balonmano de una chica se animan mucho en los partidos. Pero en el vestuario hay dos bandos que no se hablan, y la nueva siempre se cambia sola. (Variante para semanas con conflicto: En el clan de una chica todos juegan bien juntos, pero hay dos subgrupos que no se hablan en el chat, y al nuevo nadie le contesta.)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Cooperación: en el campo, sí. Juegan juntas y se animan.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Relación: falla. Hay dos bandos que no se hablan.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Inclusión: falla. La nueva se queda fuera.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Conclusión: tiene algo de cohesión, pero le falta. Las cinco preguntas dicen dónde mejorar.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C9A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1F2A44"/>
                </a:solidFill>
                <a:latin typeface="Nunito Sans"/>
              </a:rPr>
              <a:t>CASO TRAMPA · BLOQUE 2 · CASOS RESUELTOS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⚠ La cuadrilla que discute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En la cuadrilla de un chico, cuando hay que elegir plan, cada uno dice lo que piensa y a menudo no están de acuerdo. Luego deciden y siguen quedando.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No están de acuerdo casi nunca… ¿poca cohesión?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Parece que sí: no piensan todos igual.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Pero dicen lo que piensan sin miedo, deciden y siguen queriendo estar juntos.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Cohesión no es estar siempre de acuerdo: es querer seguir juntos.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5.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Conclusión: puede ser un grupo muy cohesionado. Poder decir «no estoy de acuerdo» es buena señal.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LO DE HOY EN TRES LÍNEAS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Escríbelo tú primero, sin mirar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0">
                <a:solidFill>
                  <a:srgbClr val="4A5568"/>
                </a:solidFill>
                <a:latin typeface="Nunito Sans"/>
              </a:rPr>
              <a:t>Dos minutos. Después lo comparamos.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LO DE HOY EN TRES LÍNEAS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1300000"/>
            <a:ext cx="10912000" cy="4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La cohesión es la fuerza que mantiene unido a un grupo.</a:t>
            </a:r>
          </a:p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No es pensar todos igual, callarse ni cerrarse a los de fuera.</a:t>
            </a:r>
          </a:p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En el campamento de Sherif, un objetivo común acercó a dos grupos enfrentados.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F4B183"/>
                </a:solidFill>
                <a:latin typeface="Nunito Sans"/>
              </a:rPr>
              <a:t>VÍDEO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20"/>
              </a:spcAft>
            </a:pPr>
            <a:r>
              <a:rPr sz="3600" b="1">
                <a:solidFill>
                  <a:srgbClr val="FBF7EF"/>
                </a:solidFill>
                <a:latin typeface="Fredoka"/>
              </a:rPr>
              <a:t>El experimento de la Cueva de los Ladrones (Robbers Cave), de Muzafer Sherif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2200000"/>
            <a:ext cx="10912000" cy="2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0">
                <a:solidFill>
                  <a:srgbClr val="C9D3E6"/>
                </a:solidFill>
                <a:latin typeface="Nunito Sans"/>
              </a:rPr>
              <a:t>Ver cómo competir enfrentó a dos grupos y cómo un objetivo común los acercó. Revisar antes: algunos vídeos exageran lo que pasó.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F4B183"/>
                </a:solidFill>
                <a:latin typeface="Nunito Sans"/>
              </a:rPr>
              <a:t>AHORA, LA HOJA DEL DÍA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FBF7EF"/>
                </a:solidFill>
                <a:latin typeface="Fredoka"/>
              </a:rPr>
              <a:t>20 minutos · individual · en silencio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0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Peldaño 1 · Todos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0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6 puntos</a:t>
            </a:r>
          </a:p>
        </p:txBody>
      </p:sp>
      <p:sp>
        <p:nvSpPr>
          <p:cNvPr id="7" name="Rectangle 6"/>
          <p:cNvSpPr/>
          <p:nvPr/>
        </p:nvSpPr>
        <p:spPr>
          <a:xfrm>
            <a:off x="4344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94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Peldaño 2 · Repaso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94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2 puntos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48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98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Peldaño 3 · Reto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98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2 puntos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00" y="4200000"/>
            <a:ext cx="10912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0">
                <a:solidFill>
                  <a:srgbClr val="C9D3E6"/>
                </a:solidFill>
                <a:latin typeface="Nunito Sans"/>
              </a:rPr>
              <a:t>1.ª pasada: sin apuntes, con bolígrafo. 2.ª pasada: con los apuntes, en otro color. Marca «seguro» o «dudo» en cada respuesta.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